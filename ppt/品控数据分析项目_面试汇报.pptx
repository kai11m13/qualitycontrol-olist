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品质客诉率</c:v>
                </c:pt>
              </c:strCache>
            </c:strRef>
          </c:tx>
          <c:spPr>
            <a:solidFill>
              <a:srgbClr val="E1006C"/>
            </a:solidFill>
            <a:ln w="25400" cap="flat">
              <a:solidFill>
                <a:srgbClr val="E1006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1006C"/>
              </a:solidFill>
              <a:ln w="9525" cap="flat">
                <a:solidFill>
                  <a:srgbClr val="E1006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0.048</c:v>
                </c:pt>
                <c:pt idx="1">
                  <c:v>0.041137</c:v>
                </c:pt>
                <c:pt idx="2">
                  <c:v>0.046347</c:v>
                </c:pt>
                <c:pt idx="3">
                  <c:v>0.034737</c:v>
                </c:pt>
                <c:pt idx="4">
                  <c:v>0.037518</c:v>
                </c:pt>
                <c:pt idx="5">
                  <c:v>0.045933</c:v>
                </c:pt>
                <c:pt idx="6">
                  <c:v>0.041064</c:v>
                </c:pt>
                <c:pt idx="7">
                  <c:v>0.039351</c:v>
                </c:pt>
                <c:pt idx="8">
                  <c:v>0.040723</c:v>
                </c:pt>
                <c:pt idx="9">
                  <c:v>0.046226</c:v>
                </c:pt>
                <c:pt idx="10">
                  <c:v>0.045554</c:v>
                </c:pt>
                <c:pt idx="11">
                  <c:v>0.047161</c:v>
                </c:pt>
                <c:pt idx="12">
                  <c:v>0.049653</c:v>
                </c:pt>
                <c:pt idx="13">
                  <c:v>0.052479</c:v>
                </c:pt>
                <c:pt idx="14">
                  <c:v>0.049693</c:v>
                </c:pt>
                <c:pt idx="15">
                  <c:v>0.049426</c:v>
                </c:pt>
                <c:pt idx="16">
                  <c:v>0.051415</c:v>
                </c:pt>
                <c:pt idx="17">
                  <c:v>0.053806</c:v>
                </c:pt>
                <c:pt idx="18">
                  <c:v>0.050032</c:v>
                </c:pt>
                <c:pt idx="19">
                  <c:v>0.043615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上控制限</c:v>
                </c:pt>
              </c:strCache>
            </c:strRef>
          </c:tx>
          <c:spPr>
            <a:solidFill>
              <a:srgbClr val="CDC7CF"/>
            </a:solidFill>
            <a:ln w="25400" cap="flat">
              <a:solidFill>
                <a:srgbClr val="CDC7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DC7CF"/>
              </a:solidFill>
              <a:ln w="9525" cap="flat">
                <a:solidFill>
                  <a:srgbClr val="CDC7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0.065328</c:v>
                </c:pt>
                <c:pt idx="1">
                  <c:v>0.058067</c:v>
                </c:pt>
                <c:pt idx="2">
                  <c:v>0.055157</c:v>
                </c:pt>
                <c:pt idx="3">
                  <c:v>0.055778</c:v>
                </c:pt>
                <c:pt idx="4">
                  <c:v>0.053316</c:v>
                </c:pt>
                <c:pt idx="5">
                  <c:v>0.053964</c:v>
                </c:pt>
                <c:pt idx="6">
                  <c:v>0.052874</c:v>
                </c:pt>
                <c:pt idx="7">
                  <c:v>0.052492</c:v>
                </c:pt>
                <c:pt idx="8">
                  <c:v>0.052541</c:v>
                </c:pt>
                <c:pt idx="9">
                  <c:v>0.052188</c:v>
                </c:pt>
                <c:pt idx="10">
                  <c:v>0.05022</c:v>
                </c:pt>
                <c:pt idx="11">
                  <c:v>0.051289</c:v>
                </c:pt>
                <c:pt idx="12">
                  <c:v>0.05033</c:v>
                </c:pt>
                <c:pt idx="13">
                  <c:v>0.050609</c:v>
                </c:pt>
                <c:pt idx="14">
                  <c:v>0.050364</c:v>
                </c:pt>
                <c:pt idx="15">
                  <c:v>0.050473</c:v>
                </c:pt>
                <c:pt idx="16">
                  <c:v>0.0505</c:v>
                </c:pt>
                <c:pt idx="17">
                  <c:v>0.050887</c:v>
                </c:pt>
                <c:pt idx="18">
                  <c:v>0.050849</c:v>
                </c:pt>
                <c:pt idx="19">
                  <c:v>0.050728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下控制限</c:v>
                </c:pt>
              </c:strCache>
            </c:strRef>
          </c:tx>
          <c:spPr>
            <a:solidFill>
              <a:srgbClr val="CDC7CF"/>
            </a:solidFill>
            <a:ln w="25400" cap="flat">
              <a:solidFill>
                <a:srgbClr val="CDC7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DC7CF"/>
              </a:solidFill>
              <a:ln w="9525" cap="flat">
                <a:solidFill>
                  <a:srgbClr val="CDC7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0.020842</c:v>
                </c:pt>
                <c:pt idx="1">
                  <c:v>0.028102</c:v>
                </c:pt>
                <c:pt idx="2">
                  <c:v>0.031012</c:v>
                </c:pt>
                <c:pt idx="3">
                  <c:v>0.030392</c:v>
                </c:pt>
                <c:pt idx="4">
                  <c:v>0.032854</c:v>
                </c:pt>
                <c:pt idx="5">
                  <c:v>0.032205</c:v>
                </c:pt>
                <c:pt idx="6">
                  <c:v>0.033295</c:v>
                </c:pt>
                <c:pt idx="7">
                  <c:v>0.033678</c:v>
                </c:pt>
                <c:pt idx="8">
                  <c:v>0.033629</c:v>
                </c:pt>
                <c:pt idx="9">
                  <c:v>0.033982</c:v>
                </c:pt>
                <c:pt idx="10">
                  <c:v>0.035949</c:v>
                </c:pt>
                <c:pt idx="11">
                  <c:v>0.034881</c:v>
                </c:pt>
                <c:pt idx="12">
                  <c:v>0.03584</c:v>
                </c:pt>
                <c:pt idx="13">
                  <c:v>0.035561</c:v>
                </c:pt>
                <c:pt idx="14">
                  <c:v>0.035806</c:v>
                </c:pt>
                <c:pt idx="15">
                  <c:v>0.035697</c:v>
                </c:pt>
                <c:pt idx="16">
                  <c:v>0.03567</c:v>
                </c:pt>
                <c:pt idx="17">
                  <c:v>0.035283</c:v>
                </c:pt>
                <c:pt idx="18">
                  <c:v>0.035321</c:v>
                </c:pt>
                <c:pt idx="19">
                  <c:v>0.035441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中心线 4.31%（2017 年品质客诉率）</c:v>
                </c:pt>
              </c:strCache>
            </c:strRef>
          </c:tx>
          <c:spPr>
            <a:solidFill>
              <a:srgbClr val="161418"/>
            </a:solidFill>
            <a:ln w="25400" cap="flat">
              <a:solidFill>
                <a:srgbClr val="16141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61418"/>
              </a:solidFill>
              <a:ln w="9525" cap="flat">
                <a:solidFill>
                  <a:srgbClr val="16141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0.043085</c:v>
                </c:pt>
                <c:pt idx="1">
                  <c:v>0.043085</c:v>
                </c:pt>
                <c:pt idx="2">
                  <c:v>0.043085</c:v>
                </c:pt>
                <c:pt idx="3">
                  <c:v>0.043085</c:v>
                </c:pt>
                <c:pt idx="4">
                  <c:v>0.043085</c:v>
                </c:pt>
                <c:pt idx="5">
                  <c:v>0.043085</c:v>
                </c:pt>
                <c:pt idx="6">
                  <c:v>0.043085</c:v>
                </c:pt>
                <c:pt idx="7">
                  <c:v>0.043085</c:v>
                </c:pt>
                <c:pt idx="8">
                  <c:v>0.043085</c:v>
                </c:pt>
                <c:pt idx="9">
                  <c:v>0.043085</c:v>
                </c:pt>
                <c:pt idx="10">
                  <c:v>0.043085</c:v>
                </c:pt>
                <c:pt idx="11">
                  <c:v>0.043085</c:v>
                </c:pt>
                <c:pt idx="12">
                  <c:v>0.043085</c:v>
                </c:pt>
                <c:pt idx="13">
                  <c:v>0.043085</c:v>
                </c:pt>
                <c:pt idx="14">
                  <c:v>0.043085</c:v>
                </c:pt>
                <c:pt idx="15">
                  <c:v>0.043085</c:v>
                </c:pt>
                <c:pt idx="16">
                  <c:v>0.043085</c:v>
                </c:pt>
                <c:pt idx="17">
                  <c:v>0.043085</c:v>
                </c:pt>
                <c:pt idx="18">
                  <c:v>0.043085</c:v>
                </c:pt>
                <c:pt idx="19">
                  <c:v>0.043085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5"/>
          <c:min val="0.02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0.00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差评率（2018-03 为 22.8%）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差评率（2018-03 为 22.8%）</c:v>
                </c:pt>
              </c:strCache>
            </c:strRef>
          </c:tx>
          <c:spPr>
            <a:solidFill>
              <a:srgbClr val="6E6872"/>
            </a:solidFill>
            <a:ln w="25400" cap="flat">
              <a:solidFill>
                <a:srgbClr val="6E68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E6872"/>
              </a:solidFill>
              <a:ln w="9525" cap="flat">
                <a:solidFill>
                  <a:srgbClr val="6E68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0.1557</c:v>
                </c:pt>
                <c:pt idx="1">
                  <c:v>0.1618</c:v>
                </c:pt>
                <c:pt idx="2">
                  <c:v>0.1417</c:v>
                </c:pt>
                <c:pt idx="3">
                  <c:v>0.1546</c:v>
                </c:pt>
                <c:pt idx="4">
                  <c:v>0.1277</c:v>
                </c:pt>
                <c:pt idx="5">
                  <c:v>0.1274</c:v>
                </c:pt>
                <c:pt idx="6">
                  <c:v>0.1221</c:v>
                </c:pt>
                <c:pt idx="7">
                  <c:v>0.1135</c:v>
                </c:pt>
                <c:pt idx="8">
                  <c:v>0.1244</c:v>
                </c:pt>
                <c:pt idx="9">
                  <c:v>0.1324</c:v>
                </c:pt>
                <c:pt idx="10">
                  <c:v>0.1877</c:v>
                </c:pt>
                <c:pt idx="11">
                  <c:v>0.1639</c:v>
                </c:pt>
                <c:pt idx="12">
                  <c:v>0.1551</c:v>
                </c:pt>
                <c:pt idx="13">
                  <c:v>0.2089</c:v>
                </c:pt>
                <c:pt idx="14">
                  <c:v>0.2279</c:v>
                </c:pt>
                <c:pt idx="15">
                  <c:v>0.1299</c:v>
                </c:pt>
                <c:pt idx="16">
                  <c:v>0.119</c:v>
                </c:pt>
                <c:pt idx="17">
                  <c:v>0.1078</c:v>
                </c:pt>
                <c:pt idx="18">
                  <c:v>0.1111</c:v>
                </c:pt>
                <c:pt idx="19">
                  <c:v>0.1093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.05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准时签收率（2018-03 为 81.0%）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准时签收率（2018-03 为 81.0%）</c:v>
                </c:pt>
              </c:strCache>
            </c:strRef>
          </c:tx>
          <c:spPr>
            <a:solidFill>
              <a:srgbClr val="6E6872"/>
            </a:solidFill>
            <a:ln w="25400" cap="flat">
              <a:solidFill>
                <a:srgbClr val="6E68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E6872"/>
              </a:solidFill>
              <a:ln w="9525" cap="flat">
                <a:solidFill>
                  <a:srgbClr val="6E68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2017-01</c:v>
                  </c:pt>
                  <c:pt idx="1">
                    <c:v>02</c:v>
                  </c:pt>
                  <c:pt idx="2">
                    <c:v>03</c:v>
                  </c:pt>
                  <c:pt idx="3">
                    <c:v>04</c:v>
                  </c:pt>
                  <c:pt idx="4">
                    <c:v>05</c:v>
                  </c:pt>
                  <c:pt idx="5">
                    <c:v>06</c:v>
                  </c:pt>
                  <c:pt idx="6">
                    <c:v>07</c:v>
                  </c:pt>
                  <c:pt idx="7">
                    <c:v>08</c:v>
                  </c:pt>
                  <c:pt idx="8">
                    <c:v>09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2018-01</c:v>
                  </c:pt>
                  <c:pt idx="13">
                    <c:v>02</c:v>
                  </c:pt>
                  <c:pt idx="14">
                    <c:v>03</c:v>
                  </c:pt>
                  <c:pt idx="15">
                    <c:v>04</c:v>
                  </c:pt>
                  <c:pt idx="16">
                    <c:v>05</c:v>
                  </c:pt>
                  <c:pt idx="17">
                    <c:v>06</c:v>
                  </c:pt>
                  <c:pt idx="18">
                    <c:v>07</c:v>
                  </c:pt>
                  <c:pt idx="19">
                    <c:v>08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0.9707</c:v>
                </c:pt>
                <c:pt idx="1">
                  <c:v>0.9704</c:v>
                </c:pt>
                <c:pt idx="2">
                  <c:v>0.9544</c:v>
                </c:pt>
                <c:pt idx="3">
                  <c:v>0.9344</c:v>
                </c:pt>
                <c:pt idx="4">
                  <c:v>0.9701</c:v>
                </c:pt>
                <c:pt idx="5">
                  <c:v>0.9697</c:v>
                </c:pt>
                <c:pt idx="6">
                  <c:v>0.9721</c:v>
                </c:pt>
                <c:pt idx="7">
                  <c:v>0.9709</c:v>
                </c:pt>
                <c:pt idx="8">
                  <c:v>0.9561</c:v>
                </c:pt>
                <c:pt idx="9">
                  <c:v>0.9582</c:v>
                </c:pt>
                <c:pt idx="10">
                  <c:v>0.876</c:v>
                </c:pt>
                <c:pt idx="11">
                  <c:v>0.9254</c:v>
                </c:pt>
                <c:pt idx="12">
                  <c:v>0.943</c:v>
                </c:pt>
                <c:pt idx="13">
                  <c:v>0.8587</c:v>
                </c:pt>
                <c:pt idx="14">
                  <c:v>0.8104</c:v>
                </c:pt>
                <c:pt idx="15">
                  <c:v>0.955</c:v>
                </c:pt>
                <c:pt idx="16">
                  <c:v>0.9344</c:v>
                </c:pt>
                <c:pt idx="17">
                  <c:v>0.9884</c:v>
                </c:pt>
                <c:pt idx="18">
                  <c:v>0.9662</c:v>
                </c:pt>
                <c:pt idx="19">
                  <c:v>0.9381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5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主标签为品质问题标签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2017Q1</c:v>
                  </c:pt>
                  <c:pt idx="1">
                    <c:v>2017Q2</c:v>
                  </c:pt>
                  <c:pt idx="2">
                    <c:v>2017Q3</c:v>
                  </c:pt>
                  <c:pt idx="3">
                    <c:v>2017Q4</c:v>
                  </c:pt>
                  <c:pt idx="4">
                    <c:v>2018Q1</c:v>
                  </c:pt>
                  <c:pt idx="5">
                    <c:v>2018Q2</c:v>
                  </c:pt>
                  <c:pt idx="6">
                    <c:v>2018Q3（7、8 月）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0.21883</c:v>
                </c:pt>
                <c:pt idx="1">
                  <c:v>0.226945</c:v>
                </c:pt>
                <c:pt idx="2">
                  <c:v>0.270612</c:v>
                </c:pt>
                <c:pt idx="3">
                  <c:v>0.219986</c:v>
                </c:pt>
                <c:pt idx="4">
                  <c:v>0.20314</c:v>
                </c:pt>
                <c:pt idx="5">
                  <c:v>0.34346</c:v>
                </c:pt>
                <c:pt idx="6">
                  <c:v>0.352103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主标签为履约服务标签</c:v>
                </c:pt>
              </c:strCache>
            </c:strRef>
          </c:tx>
          <c:spPr>
            <a:solidFill>
              <a:srgbClr val="1614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2017Q1</c:v>
                  </c:pt>
                  <c:pt idx="1">
                    <c:v>2017Q2</c:v>
                  </c:pt>
                  <c:pt idx="2">
                    <c:v>2017Q3</c:v>
                  </c:pt>
                  <c:pt idx="3">
                    <c:v>2017Q4</c:v>
                  </c:pt>
                  <c:pt idx="4">
                    <c:v>2018Q1</c:v>
                  </c:pt>
                  <c:pt idx="5">
                    <c:v>2018Q2</c:v>
                  </c:pt>
                  <c:pt idx="6">
                    <c:v>2018Q3（7、8 月）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0.329517</c:v>
                </c:pt>
                <c:pt idx="1">
                  <c:v>0.269447</c:v>
                </c:pt>
                <c:pt idx="2">
                  <c:v>0.273271</c:v>
                </c:pt>
                <c:pt idx="3">
                  <c:v>0.329809</c:v>
                </c:pt>
                <c:pt idx="4">
                  <c:v>0.37343</c:v>
                </c:pt>
                <c:pt idx="5">
                  <c:v>0.280591</c:v>
                </c:pt>
                <c:pt idx="6">
                  <c:v>0.277976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有文字、未命中标签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2017Q1</c:v>
                  </c:pt>
                  <c:pt idx="1">
                    <c:v>2017Q2</c:v>
                  </c:pt>
                  <c:pt idx="2">
                    <c:v>2017Q3</c:v>
                  </c:pt>
                  <c:pt idx="3">
                    <c:v>2017Q4</c:v>
                  </c:pt>
                  <c:pt idx="4">
                    <c:v>2018Q1</c:v>
                  </c:pt>
                  <c:pt idx="5">
                    <c:v>2018Q2</c:v>
                  </c:pt>
                  <c:pt idx="6">
                    <c:v>2018Q3（7、8 月）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0.204835</c:v>
                </c:pt>
                <c:pt idx="1">
                  <c:v>0.222935</c:v>
                </c:pt>
                <c:pt idx="2">
                  <c:v>0.204787</c:v>
                </c:pt>
                <c:pt idx="3">
                  <c:v>0.184857</c:v>
                </c:pt>
                <c:pt idx="4">
                  <c:v>0.166908</c:v>
                </c:pt>
                <c:pt idx="5">
                  <c:v>0.168354</c:v>
                </c:pt>
                <c:pt idx="6">
                  <c:v>0.16536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无文字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2017Q1</c:v>
                  </c:pt>
                  <c:pt idx="1">
                    <c:v>2017Q2</c:v>
                  </c:pt>
                  <c:pt idx="2">
                    <c:v>2017Q3</c:v>
                  </c:pt>
                  <c:pt idx="3">
                    <c:v>2017Q4</c:v>
                  </c:pt>
                  <c:pt idx="4">
                    <c:v>2018Q1</c:v>
                  </c:pt>
                  <c:pt idx="5">
                    <c:v>2018Q2</c:v>
                  </c:pt>
                  <c:pt idx="6">
                    <c:v>2018Q3（7、8 月）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0.246819</c:v>
                </c:pt>
                <c:pt idx="1">
                  <c:v>0.280674</c:v>
                </c:pt>
                <c:pt idx="2">
                  <c:v>0.25133</c:v>
                </c:pt>
                <c:pt idx="3">
                  <c:v>0.265348</c:v>
                </c:pt>
                <c:pt idx="4">
                  <c:v>0.256522</c:v>
                </c:pt>
                <c:pt idx="5">
                  <c:v>0.207595</c:v>
                </c:pt>
                <c:pt idx="6">
                  <c:v>0.204562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结果指标（命中该标签的品质客诉订单数 ÷ 签收订单数）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 年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少件漏发客诉率</c:v>
                  </c:pt>
                  <c:pt idx="1">
                    <c:v>质量缺陷客诉率</c:v>
                  </c:pt>
                  <c:pt idx="2">
                    <c:v>货不对板客诉率</c:v>
                  </c:pt>
                  <c:pt idx="3">
                    <c:v>包装破损客诉率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0.017</c:v>
                </c:pt>
                <c:pt idx="1">
                  <c:v>0.0152</c:v>
                </c:pt>
                <c:pt idx="2">
                  <c:v>0.012</c:v>
                </c:pt>
                <c:pt idx="3">
                  <c:v>0.0013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 年 1-8 月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少件漏发客诉率</c:v>
                  </c:pt>
                  <c:pt idx="1">
                    <c:v>质量缺陷客诉率</c:v>
                  </c:pt>
                  <c:pt idx="2">
                    <c:v>货不对板客诉率</c:v>
                  </c:pt>
                  <c:pt idx="3">
                    <c:v>包装破损客诉率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0.019</c:v>
                </c:pt>
                <c:pt idx="1">
                  <c:v>0.0159</c:v>
                </c:pt>
                <c:pt idx="2">
                  <c:v>0.016</c:v>
                </c:pt>
                <c:pt idx="3">
                  <c:v>0.0012</c:v>
                </c:pt>
              </c:numCache>
            </c:numRef>
          </c:val>
        </c:ser>
        <c:dLbls>
          <c:numFmt formatCode="0.00%" sourceLinked="0"/>
          <c:txPr>
            <a:bodyPr/>
            <a:lstStyle/>
            <a:p>
              <a:pPr>
                <a:defRPr b="0" i="0" strike="noStrike" sz="9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品质客诉率 × 订单结构（下单月 2017-01 至 2018-08）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命中少件漏发标签</c:v>
                </c:pt>
              </c:strCache>
            </c:strRef>
          </c:tx>
          <c:spPr>
            <a:solidFill>
              <a:srgbClr val="1614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单件订单：3.46%</c:v>
                  </c:pt>
                  <c:pt idx="1">
                    <c:v>同 SKU 多件：14.23%</c:v>
                  </c:pt>
                  <c:pt idx="2">
                    <c:v>单商家多 SKU：13.62%</c:v>
                  </c:pt>
                  <c:pt idx="3">
                    <c:v>多商家：26.97%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0.0053</c:v>
                </c:pt>
                <c:pt idx="1">
                  <c:v>0.1183</c:v>
                </c:pt>
                <c:pt idx="2">
                  <c:v>0.1133</c:v>
                </c:pt>
                <c:pt idx="3">
                  <c:v>0.2437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未命中少件漏发标签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单件订单：3.46%</c:v>
                  </c:pt>
                  <c:pt idx="1">
                    <c:v>同 SKU 多件：14.23%</c:v>
                  </c:pt>
                  <c:pt idx="2">
                    <c:v>单商家多 SKU：13.62%</c:v>
                  </c:pt>
                  <c:pt idx="3">
                    <c:v>多商家：26.97%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0.0293</c:v>
                </c:pt>
                <c:pt idx="1">
                  <c:v>0.024000000000000007</c:v>
                </c:pt>
                <c:pt idx="2">
                  <c:v>0.02289999999999999</c:v>
                </c:pt>
                <c:pt idx="3">
                  <c:v>0.025999999999999995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299 家参评商家的构成（商家评估窗口：下单月 2018-03 至 2018-08）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正常商家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商家数</c:v>
                  </c:pt>
                  <c:pt idx="1">
                    <c:v>商家签收订单数</c:v>
                  </c:pt>
                  <c:pt idx="2">
                    <c:v>商家品质客诉订单数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0.822742</c:v>
                </c:pt>
                <c:pt idx="1">
                  <c:v>0.816025</c:v>
                </c:pt>
                <c:pt idx="2">
                  <c:v>0.622344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需关注商家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商家数</c:v>
                  </c:pt>
                  <c:pt idx="1">
                    <c:v>商家签收订单数</c:v>
                  </c:pt>
                  <c:pt idx="2">
                    <c:v>商家品质客诉订单数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0.143813</c:v>
                </c:pt>
                <c:pt idx="1">
                  <c:v>0.147905</c:v>
                </c:pt>
                <c:pt idx="2">
                  <c:v>0.252913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高风险商家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商家数</c:v>
                  </c:pt>
                  <c:pt idx="1">
                    <c:v>商家签收订单数</c:v>
                  </c:pt>
                  <c:pt idx="2">
                    <c:v>商家品质客诉订单数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0.033445</c:v>
                </c:pt>
                <c:pt idx="1">
                  <c:v>0.036071</c:v>
                </c:pt>
                <c:pt idx="2">
                  <c:v>0.124743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050" b="0" i="0" u="none" strike="noStrike">
                <a:solidFill>
                  <a:srgbClr val="161418"/>
                </a:solidFill>
                <a:latin typeface="Microsoft YaHei"/>
              </a:rPr>
              <a:t>品质客诉率最高的 10 个主品类（下单月 2017-01 至 2018-08，签收订单 ≥ 300；全部签收订单为 4.69%）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品质客诉率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电脑配件</c:v>
                  </c:pt>
                  <c:pt idx="1">
                    <c:v>家具软装</c:v>
                  </c:pt>
                  <c:pt idx="2">
                    <c:v>家用电器</c:v>
                  </c:pt>
                  <c:pt idx="3">
                    <c:v>客厅家具</c:v>
                  </c:pt>
                  <c:pt idx="4">
                    <c:v>影音设备</c:v>
                  </c:pt>
                  <c:pt idx="5">
                    <c:v>手机通讯</c:v>
                  </c:pt>
                  <c:pt idx="6">
                    <c:v>居家舒适</c:v>
                  </c:pt>
                  <c:pt idx="7">
                    <c:v>未知品类</c:v>
                  </c:pt>
                  <c:pt idx="8">
                    <c:v>家装建材</c:v>
                  </c:pt>
                  <c:pt idx="9">
                    <c:v>办公家具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0.0566</c:v>
                </c:pt>
                <c:pt idx="1">
                  <c:v>0.0586</c:v>
                </c:pt>
                <c:pt idx="2">
                  <c:v>0.0589</c:v>
                </c:pt>
                <c:pt idx="3">
                  <c:v>0.0611</c:v>
                </c:pt>
                <c:pt idx="4">
                  <c:v>0.0614</c:v>
                </c:pt>
                <c:pt idx="5">
                  <c:v>0.0627</c:v>
                </c:pt>
                <c:pt idx="6">
                  <c:v>0.0649</c:v>
                </c:pt>
                <c:pt idx="7">
                  <c:v>0.0656</c:v>
                </c:pt>
                <c:pt idx="8">
                  <c:v>0.0826</c:v>
                </c:pt>
                <c:pt idx="9">
                  <c:v>0.1076</c:v>
                </c:pt>
              </c:numCache>
            </c:numRef>
          </c:val>
        </c:ser>
        <c:dLbls>
          <c:numFmt formatCode="0.00%" sourceLinked="0"/>
          <c:txPr>
            <a:bodyPr/>
            <a:lstStyle/>
            <a:p>
              <a:pPr>
                <a:defRPr b="0" i="0" strike="noStrike" sz="10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b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品质客诉率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 年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穿戴类</c:v>
                  </c:pt>
                  <c:pt idx="1">
                    <c:v>非穿戴类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0.037437</c:v>
                </c:pt>
                <c:pt idx="1">
                  <c:v>0.043655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 年 1-8 月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穿戴类</c:v>
                  </c:pt>
                  <c:pt idx="1">
                    <c:v>非穿戴类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0.050756</c:v>
                </c:pt>
                <c:pt idx="1">
                  <c:v>0.049927</c:v>
                </c:pt>
              </c:numCache>
            </c:numRef>
          </c:val>
        </c:ser>
        <c:dLbls>
          <c:numFmt formatCode="0.00%" sourceLinked="0"/>
          <c:txPr>
            <a:bodyPr/>
            <a:lstStyle/>
            <a:p>
              <a:pPr>
                <a:defRPr b="0" i="0" strike="noStrike" sz="9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"/>
          <c:min val="0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.0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假货客诉率（单/万单）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 年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穿戴类</c:v>
                  </c:pt>
                  <c:pt idx="1">
                    <c:v>非穿戴类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10.050251</c:v>
                </c:pt>
                <c:pt idx="1">
                  <c:v>12.675556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 年 1-8 月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穿戴类</c:v>
                  </c:pt>
                  <c:pt idx="1">
                    <c:v>非穿戴类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53.863683</c:v>
                </c:pt>
                <c:pt idx="1">
                  <c:v>18.769552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增益曲线：横轴为抽检比例，纵轴为问题订单覆盖率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出库复核：多件订单优先（出库类问题订单）</c:v>
                </c:pt>
              </c:strCache>
            </c:strRef>
          </c:tx>
          <c:spPr>
            <a:solidFill>
              <a:srgbClr val="161418"/>
            </a:solidFill>
            <a:ln w="25400" cap="flat">
              <a:solidFill>
                <a:srgbClr val="16141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61418"/>
              </a:solidFill>
              <a:ln w="9525" cap="flat">
                <a:solidFill>
                  <a:srgbClr val="16141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0%</c:v>
                  </c:pt>
                  <c:pt idx="1">
                    <c:v/>
                  </c:pt>
                  <c:pt idx="2">
                    <c:v>10%</c:v>
                  </c:pt>
                  <c:pt idx="3">
                    <c:v/>
                  </c:pt>
                  <c:pt idx="4">
                    <c:v>20%</c:v>
                  </c:pt>
                  <c:pt idx="5">
                    <c:v/>
                  </c:pt>
                  <c:pt idx="6">
                    <c:v>30%</c:v>
                  </c:pt>
                  <c:pt idx="7">
                    <c:v/>
                  </c:pt>
                  <c:pt idx="8">
                    <c:v>40%</c:v>
                  </c:pt>
                  <c:pt idx="9">
                    <c:v/>
                  </c:pt>
                  <c:pt idx="10">
                    <c:v>50%</c:v>
                  </c:pt>
                  <c:pt idx="11">
                    <c:v/>
                  </c:pt>
                  <c:pt idx="12">
                    <c:v>60%</c:v>
                  </c:pt>
                  <c:pt idx="13">
                    <c:v/>
                  </c:pt>
                  <c:pt idx="14">
                    <c:v>70%</c:v>
                  </c:pt>
                  <c:pt idx="15">
                    <c:v/>
                  </c:pt>
                  <c:pt idx="16">
                    <c:v>80%</c:v>
                  </c:pt>
                  <c:pt idx="17">
                    <c:v/>
                  </c:pt>
                  <c:pt idx="18">
                    <c:v>90%</c:v>
                  </c:pt>
                  <c:pt idx="19">
                    <c:v/>
                  </c:pt>
                  <c:pt idx="20">
                    <c:v>100%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0.386</c:v>
                </c:pt>
                <c:pt idx="2">
                  <c:v>0.7538</c:v>
                </c:pt>
                <c:pt idx="3">
                  <c:v>0.7706</c:v>
                </c:pt>
                <c:pt idx="4">
                  <c:v>0.7902</c:v>
                </c:pt>
                <c:pt idx="5">
                  <c:v>0.7986</c:v>
                </c:pt>
                <c:pt idx="6">
                  <c:v>0.8084</c:v>
                </c:pt>
                <c:pt idx="7">
                  <c:v>0.8182</c:v>
                </c:pt>
                <c:pt idx="8">
                  <c:v>0.8364</c:v>
                </c:pt>
                <c:pt idx="9">
                  <c:v>0.8476</c:v>
                </c:pt>
                <c:pt idx="10">
                  <c:v>0.8615</c:v>
                </c:pt>
                <c:pt idx="11">
                  <c:v>0.8755</c:v>
                </c:pt>
                <c:pt idx="12">
                  <c:v>0.8839</c:v>
                </c:pt>
                <c:pt idx="13">
                  <c:v>0.9021</c:v>
                </c:pt>
                <c:pt idx="14">
                  <c:v>0.9133</c:v>
                </c:pt>
                <c:pt idx="15">
                  <c:v>0.9315</c:v>
                </c:pt>
                <c:pt idx="16">
                  <c:v>0.951</c:v>
                </c:pt>
                <c:pt idx="17">
                  <c:v>0.9622</c:v>
                </c:pt>
                <c:pt idx="18">
                  <c:v>0.9734</c:v>
                </c:pt>
                <c:pt idx="19">
                  <c:v>0.9874</c:v>
                </c:pt>
                <c:pt idx="20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入仓抽检：商家 × 品类风险分</c:v>
                </c:pt>
              </c:strCache>
            </c:strRef>
          </c:tx>
          <c:spPr>
            <a:solidFill>
              <a:srgbClr val="E1006C"/>
            </a:solidFill>
            <a:ln w="25400" cap="flat">
              <a:solidFill>
                <a:srgbClr val="E1006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1006C"/>
              </a:solidFill>
              <a:ln w="9525" cap="flat">
                <a:solidFill>
                  <a:srgbClr val="E1006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0%</c:v>
                  </c:pt>
                  <c:pt idx="1">
                    <c:v/>
                  </c:pt>
                  <c:pt idx="2">
                    <c:v>10%</c:v>
                  </c:pt>
                  <c:pt idx="3">
                    <c:v/>
                  </c:pt>
                  <c:pt idx="4">
                    <c:v>20%</c:v>
                  </c:pt>
                  <c:pt idx="5">
                    <c:v/>
                  </c:pt>
                  <c:pt idx="6">
                    <c:v>30%</c:v>
                  </c:pt>
                  <c:pt idx="7">
                    <c:v/>
                  </c:pt>
                  <c:pt idx="8">
                    <c:v>40%</c:v>
                  </c:pt>
                  <c:pt idx="9">
                    <c:v/>
                  </c:pt>
                  <c:pt idx="10">
                    <c:v>50%</c:v>
                  </c:pt>
                  <c:pt idx="11">
                    <c:v/>
                  </c:pt>
                  <c:pt idx="12">
                    <c:v>60%</c:v>
                  </c:pt>
                  <c:pt idx="13">
                    <c:v/>
                  </c:pt>
                  <c:pt idx="14">
                    <c:v>70%</c:v>
                  </c:pt>
                  <c:pt idx="15">
                    <c:v/>
                  </c:pt>
                  <c:pt idx="16">
                    <c:v>80%</c:v>
                  </c:pt>
                  <c:pt idx="17">
                    <c:v/>
                  </c:pt>
                  <c:pt idx="18">
                    <c:v>90%</c:v>
                  </c:pt>
                  <c:pt idx="19">
                    <c:v/>
                  </c:pt>
                  <c:pt idx="20">
                    <c:v>100%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</c:v>
                </c:pt>
                <c:pt idx="1">
                  <c:v>0.0853</c:v>
                </c:pt>
                <c:pt idx="2">
                  <c:v>0.1573</c:v>
                </c:pt>
                <c:pt idx="3">
                  <c:v>0.241</c:v>
                </c:pt>
                <c:pt idx="4">
                  <c:v>0.302</c:v>
                </c:pt>
                <c:pt idx="5">
                  <c:v>0.367</c:v>
                </c:pt>
                <c:pt idx="6">
                  <c:v>0.4241</c:v>
                </c:pt>
                <c:pt idx="7">
                  <c:v>0.4687</c:v>
                </c:pt>
                <c:pt idx="8">
                  <c:v>0.5164</c:v>
                </c:pt>
                <c:pt idx="9">
                  <c:v>0.561</c:v>
                </c:pt>
                <c:pt idx="10">
                  <c:v>0.6283</c:v>
                </c:pt>
                <c:pt idx="11">
                  <c:v>0.68</c:v>
                </c:pt>
                <c:pt idx="12">
                  <c:v>0.7254</c:v>
                </c:pt>
                <c:pt idx="13">
                  <c:v>0.7621</c:v>
                </c:pt>
                <c:pt idx="14">
                  <c:v>0.8161</c:v>
                </c:pt>
                <c:pt idx="15">
                  <c:v>0.8443</c:v>
                </c:pt>
                <c:pt idx="16">
                  <c:v>0.8803</c:v>
                </c:pt>
                <c:pt idx="17">
                  <c:v>0.9092</c:v>
                </c:pt>
                <c:pt idx="18">
                  <c:v>0.9507</c:v>
                </c:pt>
                <c:pt idx="19">
                  <c:v>0.9804</c:v>
                </c:pt>
                <c:pt idx="20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入仓抽检：商家风险分</c:v>
                </c:pt>
              </c:strCache>
            </c:strRef>
          </c:tx>
          <c:spPr>
            <a:solidFill>
              <a:srgbClr val="F08CB8"/>
            </a:solidFill>
            <a:ln w="25400" cap="flat">
              <a:solidFill>
                <a:srgbClr val="F08C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08CB8"/>
              </a:solidFill>
              <a:ln w="9525" cap="flat">
                <a:solidFill>
                  <a:srgbClr val="F08C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0%</c:v>
                  </c:pt>
                  <c:pt idx="1">
                    <c:v/>
                  </c:pt>
                  <c:pt idx="2">
                    <c:v>10%</c:v>
                  </c:pt>
                  <c:pt idx="3">
                    <c:v/>
                  </c:pt>
                  <c:pt idx="4">
                    <c:v>20%</c:v>
                  </c:pt>
                  <c:pt idx="5">
                    <c:v/>
                  </c:pt>
                  <c:pt idx="6">
                    <c:v>30%</c:v>
                  </c:pt>
                  <c:pt idx="7">
                    <c:v/>
                  </c:pt>
                  <c:pt idx="8">
                    <c:v>40%</c:v>
                  </c:pt>
                  <c:pt idx="9">
                    <c:v/>
                  </c:pt>
                  <c:pt idx="10">
                    <c:v>50%</c:v>
                  </c:pt>
                  <c:pt idx="11">
                    <c:v/>
                  </c:pt>
                  <c:pt idx="12">
                    <c:v>60%</c:v>
                  </c:pt>
                  <c:pt idx="13">
                    <c:v/>
                  </c:pt>
                  <c:pt idx="14">
                    <c:v>70%</c:v>
                  </c:pt>
                  <c:pt idx="15">
                    <c:v/>
                  </c:pt>
                  <c:pt idx="16">
                    <c:v>80%</c:v>
                  </c:pt>
                  <c:pt idx="17">
                    <c:v/>
                  </c:pt>
                  <c:pt idx="18">
                    <c:v>90%</c:v>
                  </c:pt>
                  <c:pt idx="19">
                    <c:v/>
                  </c:pt>
                  <c:pt idx="20">
                    <c:v>100%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0</c:v>
                </c:pt>
                <c:pt idx="1">
                  <c:v>0.0806</c:v>
                </c:pt>
                <c:pt idx="2">
                  <c:v>0.1377</c:v>
                </c:pt>
                <c:pt idx="3">
                  <c:v>0.2332</c:v>
                </c:pt>
                <c:pt idx="4">
                  <c:v>0.3028</c:v>
                </c:pt>
                <c:pt idx="5">
                  <c:v>0.3576</c:v>
                </c:pt>
                <c:pt idx="6">
                  <c:v>0.4045</c:v>
                </c:pt>
                <c:pt idx="7">
                  <c:v>0.4538</c:v>
                </c:pt>
                <c:pt idx="8">
                  <c:v>0.4906</c:v>
                </c:pt>
                <c:pt idx="9">
                  <c:v>0.5391</c:v>
                </c:pt>
                <c:pt idx="10">
                  <c:v>0.59</c:v>
                </c:pt>
                <c:pt idx="11">
                  <c:v>0.6315</c:v>
                </c:pt>
                <c:pt idx="12">
                  <c:v>0.7128</c:v>
                </c:pt>
                <c:pt idx="13">
                  <c:v>0.7629</c:v>
                </c:pt>
                <c:pt idx="14">
                  <c:v>0.7973</c:v>
                </c:pt>
                <c:pt idx="15">
                  <c:v>0.8341</c:v>
                </c:pt>
                <c:pt idx="16">
                  <c:v>0.867</c:v>
                </c:pt>
                <c:pt idx="17">
                  <c:v>0.9045</c:v>
                </c:pt>
                <c:pt idx="18">
                  <c:v>0.9523</c:v>
                </c:pt>
                <c:pt idx="19">
                  <c:v>0.9781</c:v>
                </c:pt>
                <c:pt idx="20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入仓抽检：随机顺序</c:v>
                </c:pt>
              </c:strCache>
            </c:strRef>
          </c:tx>
          <c:spPr>
            <a:solidFill>
              <a:srgbClr val="CDC7CF"/>
            </a:solidFill>
            <a:ln w="25400" cap="flat">
              <a:solidFill>
                <a:srgbClr val="CDC7C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DC7CF"/>
              </a:solidFill>
              <a:ln w="9525" cap="flat">
                <a:solidFill>
                  <a:srgbClr val="CDC7C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0%</c:v>
                  </c:pt>
                  <c:pt idx="1">
                    <c:v/>
                  </c:pt>
                  <c:pt idx="2">
                    <c:v>10%</c:v>
                  </c:pt>
                  <c:pt idx="3">
                    <c:v/>
                  </c:pt>
                  <c:pt idx="4">
                    <c:v>20%</c:v>
                  </c:pt>
                  <c:pt idx="5">
                    <c:v/>
                  </c:pt>
                  <c:pt idx="6">
                    <c:v>30%</c:v>
                  </c:pt>
                  <c:pt idx="7">
                    <c:v/>
                  </c:pt>
                  <c:pt idx="8">
                    <c:v>40%</c:v>
                  </c:pt>
                  <c:pt idx="9">
                    <c:v/>
                  </c:pt>
                  <c:pt idx="10">
                    <c:v>50%</c:v>
                  </c:pt>
                  <c:pt idx="11">
                    <c:v/>
                  </c:pt>
                  <c:pt idx="12">
                    <c:v>60%</c:v>
                  </c:pt>
                  <c:pt idx="13">
                    <c:v/>
                  </c:pt>
                  <c:pt idx="14">
                    <c:v>70%</c:v>
                  </c:pt>
                  <c:pt idx="15">
                    <c:v/>
                  </c:pt>
                  <c:pt idx="16">
                    <c:v>80%</c:v>
                  </c:pt>
                  <c:pt idx="17">
                    <c:v/>
                  </c:pt>
                  <c:pt idx="18">
                    <c:v>90%</c:v>
                  </c:pt>
                  <c:pt idx="19">
                    <c:v/>
                  </c:pt>
                  <c:pt idx="20">
                    <c:v>100%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0</c:v>
                </c:pt>
                <c:pt idx="1">
                  <c:v>0.0501</c:v>
                </c:pt>
                <c:pt idx="2">
                  <c:v>0.1025</c:v>
                </c:pt>
                <c:pt idx="3">
                  <c:v>0.1541</c:v>
                </c:pt>
                <c:pt idx="4">
                  <c:v>0.2011</c:v>
                </c:pt>
                <c:pt idx="5">
                  <c:v>0.2426</c:v>
                </c:pt>
                <c:pt idx="6">
                  <c:v>0.2856</c:v>
                </c:pt>
                <c:pt idx="7">
                  <c:v>0.3326</c:v>
                </c:pt>
                <c:pt idx="8">
                  <c:v>0.3858</c:v>
                </c:pt>
                <c:pt idx="9">
                  <c:v>0.4319</c:v>
                </c:pt>
                <c:pt idx="10">
                  <c:v>0.4836</c:v>
                </c:pt>
                <c:pt idx="11">
                  <c:v>0.5329</c:v>
                </c:pt>
                <c:pt idx="12">
                  <c:v>0.5829</c:v>
                </c:pt>
                <c:pt idx="13">
                  <c:v>0.6299</c:v>
                </c:pt>
                <c:pt idx="14">
                  <c:v>0.6823</c:v>
                </c:pt>
                <c:pt idx="15">
                  <c:v>0.7379</c:v>
                </c:pt>
                <c:pt idx="16">
                  <c:v>0.7848</c:v>
                </c:pt>
                <c:pt idx="17">
                  <c:v>0.8341</c:v>
                </c:pt>
                <c:pt idx="18">
                  <c:v>0.8826</c:v>
                </c:pt>
                <c:pt idx="19">
                  <c:v>0.9421</c:v>
                </c:pt>
                <c:pt idx="20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418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61418"/>
                </a:solidFill>
                <a:latin typeface="Microsoft YaHei"/>
              </a:rPr>
              <a:t>检验期品质客诉率 ÷ 检验期商家基准品质客诉率（倍）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高风险商家</c:v>
                </c:pt>
              </c:strCache>
            </c:strRef>
          </c:tx>
          <c:spPr>
            <a:solidFill>
              <a:srgbClr val="E1006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检验期 2017-07 至 2017-12</c:v>
                  </c:pt>
                  <c:pt idx="1">
                    <c:v>检验期 2018-01 至 2018-06</c:v>
                  </c:pt>
                  <c:pt idx="2">
                    <c:v>检验期 2018-03 至 2018-08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2.054456</c:v>
                </c:pt>
                <c:pt idx="1">
                  <c:v>2.574639</c:v>
                </c:pt>
                <c:pt idx="2">
                  <c:v>1.883666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需关注商家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检验期 2017-07 至 2017-12</c:v>
                  </c:pt>
                  <c:pt idx="1">
                    <c:v>检验期 2018-01 至 2018-06</c:v>
                  </c:pt>
                  <c:pt idx="2">
                    <c:v>检验期 2018-03 至 2018-08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1.249993</c:v>
                </c:pt>
                <c:pt idx="1">
                  <c:v>1.517956</c:v>
                </c:pt>
                <c:pt idx="2">
                  <c:v>1.589606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正常商家</c:v>
                </c:pt>
              </c:strCache>
            </c:strRef>
          </c:tx>
          <c:spPr>
            <a:solidFill>
              <a:srgbClr val="CDC7C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1418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检验期 2017-07 至 2017-12</c:v>
                  </c:pt>
                  <c:pt idx="1">
                    <c:v>检验期 2018-01 至 2018-06</c:v>
                  </c:pt>
                  <c:pt idx="2">
                    <c:v>检验期 2018-03 至 2018-08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0.895495</c:v>
                </c:pt>
                <c:pt idx="1">
                  <c:v>0.881898</c:v>
                </c:pt>
                <c:pt idx="2">
                  <c:v>0.898522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61418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DC7C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9E6E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72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这个项目用 Olist 巴西电商平台公开的真实订单数据，搭建了以品质客诉率为核心指标的品控分析，包括指标体系、经营看板、专题分析、SQL 取数四个模块。标题就是专题分析的结论：差评率在下降，品质客诉率在上升。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全部内容围绕一个指标：品质客诉率，等于品质客诉订单数除以签收订单数，分子分母按同一下单月归属。品质客诉订单要同时满足三个条件：是签收订单；最后一次评价为 1 到 3 星；评价文字命中至少一个品质问题标签。品质问题标签有 5 类：假货、质量缺陷、货不对板、少件漏发、包装破损，每一类对应一个结果指标。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项目分四个模块：指标体系、经营看板、专题分析、SQL 取数。四个模块的数字都从同一张订单宽表计算：指标字典里每个指标的基准值，是直接运行字典里的口径 SQL 得到的，所以看板、报告和 SQL 题的数字能互相对上。每次运行先执行数据校验，任一项不通过就不输出结果。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公开数据里没有客诉记录，所以用最后一次评价的星级和评价文字来识别品质问题：葡语关键词规则识别出 8 个标签，其中 5 个是品质问题标签。规则的准不准用标注样本评估：随机抽 200 条，由大模型逐条读原文判定，每条附中文释义方便人工抽查。标签精确率 97.4%，标签召回率 74.5%，规则偏保守，品质客诉率的绝对值偏低。数仓分四层，汇总层只存订单数，比率在最后一步计算。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指标体系分四层。核心指标是品质客诉率，下单月 2018-01 至 2018-08 为 5.00%。结果指标是它按 5 个品质问题标签拆开的 5 个指标；一个订单可以同时命中多个标签，所以 5 个结果指标相加大于品质客诉率。体验指标是差评率这类受物流和服务影响的指标，只观察不考核。过程指标按品控环节拆开：商品准入、商家管理、仓配履约，以及需要内部数据的待接入指标；结果指标变差时，顺着环节往前找过程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六条口径规则，每一条都对应一个真实的数据问题。比如第一条按下单月归属：下单月 2018-03 按下单月归属是 4.97%；如果分子按评价月、分母按签收月，算出来是 5.25%。两个数都没算错，但后者的分子分母不是同一批订单。下方是口径变更记录，每个版本改了什么、为什么改，都记在指标字典里。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看板有三页：经营总览、商家分层、指标口径。第一屏回答好不好：核心指标单独放大，带上期对比和控制图状态；预警清单把三类预警放在一起，规则与 SQL 题库的预警题相同。第二屏回答在哪里：结果指标、一级类目、订单结构和主品类明细。汇总表只存订单数，任何筛选组合下都是先求和再相除。另外有 Power BI、Tableau 搭建指南和 Excel 商家品质月报模板。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专题分析的出发点是一个反直觉的现象：差评率在下降，品质客诉率却在上升。分析按六步展开：先用控制图判断是不是真的变了；再看差评结构；然后用因素分解区分结构效应和组内效应；接着定位问题；再证伪三个直觉上成立的假设；最后测算举措的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左边是品质客诉率的控制图：中心线是 2017 年的品质客诉率 4.31%，控制限是中心线加减 3 倍标准差、随当月签收订单数变化。2017 年 12 个月都在控制限内；2018 年有 3 个月越限，而且从 2017 年 10 月起连续 11 个月高于中心线，是持续偏移。两期对比的 z 检验 z = 5.05，p &lt; 0.0001。右边两张是差评率和准时签收率，形状几乎是镜像：2018 年 3 月准时签收率降到 81.0%，差评率升到 22.8%。最后一个月品质客诉率回落到 4.36%：8 月的评价回收率与 7 月相当，但与 7 月的差异不显著（p = 0.09），仍在控制限内，只作为回落信号继续观察。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这张图把每个季度的差评按主标签分成四类。玫红色是主标签为品质问题标签的差评，2017 年一季度占 21.9%，2018 年三季度升到 35.2%；黑色的履约服务类在 2018 年一季度物流出问题时最高，之后回落。物流问题缓解以后，差评里的品质问题越来越突出。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品质客诉率上升 +0.69pp，先要回答：是不是卖了更多高品质客诉率的类目？因素分解按一级类目把变化拆成三部分：组内效应 +0.74pp，结构效应 −0.01pp，交互项 −0.04pp。上升几乎全部来自组内效应，也就是同一类目自身在变差。再看结果指标：货不对板客诉率从 1.20% 升到 1.60%，假货客诉率从 12.0 单/万单 升到 22.0 单/万单，质量缺陷客诉率变化较小。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第一处是多件订单。多件订单占签收订单 10.0%，却贡献了 33.6% 的品质客诉订单；多件订单的品质客诉率 15.79%，是单件订单 3.46% 的 4.6 倍，增加的部分主要是少件漏发。这些少件漏发客诉订单里，99.8% 的评价日期不早于签收日期，说明不是"还没收齐就评价"，问题指向出库环节。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第二处是高风险商家。判定用平滑品质客诉率：给每个商家先加 50 单"商家基准品质客诉率水平"的虚拟订单，避免 10 单里 1 单就被判为高风险。圈出的 10 家只占参评商家的 3.3%、商家签收订单的 3.6%，却贡献了 12.5% 的商家品质客诉订单。两个检验：10 家的 Wilson 置信区间下限都高于商家基准品质客诉率；回测中，这些商家下一个 6 个月的品质客诉率仍是商家基准品质客诉率的 2.2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第三处是假货。按主品类看，电脑配件的假货客诉率 66.2 单/万单，钟表礼品 53.0 单/万单，全部签收订单只有 17.7 单/万单。另外两个发现：办公家具品质客诉率 10.76%，主要是少件漏发和质量缺陷，大件商品普遍如此；商品信息缺失的商品，假货客诉率明显更高，可以直接变成上架准入的要求。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Olist 的穿戴类只占签收订单的 9.2%，所以单独看穿戴类：品质客诉率从 3.74% 升到 5.08%，z 检验显著；假货客诉率从 10.1 升到 53.9 单/万单。把穿戴类占比调为 75%（取自唯品会 2024 年财报报道的穿戴类 GMV 占比，用 GMV 占比近似订单占比）重新加权，2018 年 1-8 月的假货客诉率会从 22.0 单/万单 升到 45.1 单/万单。Olist 的服装样本小，这一页的结论是方向性的。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直觉上合理的假设，数据都不支持。新入驻商家的品质客诉率并不更高；延迟签收订单的品质客诉率反而略低，用户主要在抱怨慢；首单体验对复购的影响在这份数据里看不出来，因为全部用户的复购率本身就很低。第三个我标的是证据不足而不是不成立，这个区别很重要：需要会员数据才能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三项举措分别对应三处问题。A 是多件订单出库复核加分包裹提醒，中性情景假设降幅 50%，能降 −0.72pp，收益最大；B 是高风险商家和需关注商家整改，假设 30%；C 是 3C数码、钟表与潮流好物的正品与商品描述专项，假设 30%。叠加时按一个品质客诉订单被任一举措避免的概率计算，避免重复。中性情景从 5.00% 降到 3.82%，悲观 4.32%，乐观 3.34%；降幅是可以和业务一起校准的假设参数。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质检资源按风险分配，用样本外检验：用前 6 个月计算风险分，在后 6 个月的订单上看效果。出库类问题靠订单结构就能锁定：只复核占 10.0% 的多件订单，就能覆盖 75.4% 的出库类问题订单。入仓类问题更分散：抽检 10% 时，按商家乘品类的风险分抽，覆盖率 15.7%，随机抽是 10.3%，是它的 1.5 倍。公开数据只有商家和品类两个特征，接入商家历史质检结果后风险分会更准。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部分把品控业务可能提的取数需求整理成 19 道题。取数最难的不是语法，而是把业务的一句话翻译成口径，所以每道题从业务方原话出发，先写口径和假设。右边是典型错误：比如下单月 2018-03 的品质客诉率，按下单月归属是 4.97%；分子按评价月、分母按签收月是 5.25%。所有答案都实际运行过，其中 4 道和看板数字逐一核对一致。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可信度分两部分。一是数据校验做成脚本，每次运行执行 18 项检查，任何一项不通过就不输出结果；已知的数据问题不悄悄删掉，而是写明处理方式。二是局限：规则偏保守，标签召回率 74.5%，绝对值偏低，但两年的标签召回率相近，趋势结论成立；没有质检数据；最近一个月的回落还需要继续观察。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下一步三件事：先对齐口径，再接入质检和退货数据，然后从多件订单少件漏发切入，完成一轮发现、举措、复盘。所有材料都可以一键复现。谢谢。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两比例 z 检验用合并比例算标准误，|z| 大于 1.96 即在 5% 水平显著。控制图的中心线是 2017 年品质客诉率，控制限是中心线加减 3 倍根号下中心线乘以（1 减中心线）除以当月签收订单数，所以签收订单多的月份控制限更窄。Wilson 区间在小样本时比正态近似更准，适合商家这种样本量差别很大的场景。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标注样本是从全部签收订单中最后一次评价 1-3 星、有文字的评价里随机抽的 200 条，由大模型逐条读葡语原文判定，每条附中文释义方便人工抽查。标签精确率 97.4%，标签召回率 74.5%，规则偏保守，品质客诉率的绝对值偏低；关键是 2017 年和 2018 年的标签召回率相近，所以上升趋势不是规则造成的。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回测：用一个 6 个月窗口给商家分层，再看同一批商家下一个 6 个月的品质客诉率，除以当期的商家基准品质客诉率。三组窗口里排序每次都是高风险大于需关注大于正常，说明分层有预测力。高风险商家每组只有 3 到 4 家，所以看三组合计。同时能看到回落，评估整改效果必须设对照组。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三组情景：悲观 4.32%，中性 3.82%，乐观 3.34%。敏感性分析每次只改一项举措的降幅、其余取中性值，举措 A 的影响最大，所以上线后最该先验证多件订单复核的真实效果：先在部分仓库试点，用试点组相对对照组的变化评估。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电商品控数据分析项目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差评率在下降，品质客诉率在上升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C8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指标体系 · 经营看板 · 专题分析 · SQL 取数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99,441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54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个订单（数据集全部订单）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4160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96,203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4754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个签收订单（下单月 2017-01 至 2018-08）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4160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3,095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4754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家商家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4160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4754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个品类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Brazilian E-Commerce Public Dataset（巴西电商平台公开的脱敏真实订单）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项目方法 · 核心概念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全部内容围绕一个指标：品质客诉率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：签收订单中，用户因商品本身的问题给出 1-3 星、并在评价文字里描述了该问题的订单所占的比例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后面每一页先给出这一页的关键术语；全部术语的定义见 docs/00_术语与口径.md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161418"/>
          </a:solidFill>
          <a:ln w="12700">
            <a:solidFill>
              <a:srgbClr val="1614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18745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　=　品质客诉订单数　÷　签收订单数　　（分子、分母按同一下单月归属）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697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品质客诉订单 = 同时满足以下三个条件的订单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3576218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15468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签收订单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502152"/>
            <a:ext cx="32104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订单状态为"已签收"（delivered）且签收时间不为空的订单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07738" y="3063240"/>
            <a:ext cx="3576218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90618" y="315468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最后一次评价为 1-3 星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490618" y="3502152"/>
            <a:ext cx="32104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评价：用户对一个订单的一次打分（1-5 星），可附文字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最后一次评价：同一订单有多条评价时，提交时间最晚的一条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66837" y="3063240"/>
            <a:ext cx="3576218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9717" y="3154680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评价文字命中品质问题标签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249717" y="3502152"/>
            <a:ext cx="32104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品质问题标签：用葡语关键词规则从评价文字中识别出的 5 类问题；一条评价可同时命中多类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个品质问题标签（每个标签对应一个结果指标：命中该标签的品质客诉订单数 ÷ 签收订单数）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64608"/>
            <a:ext cx="18348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175504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非正品、仿冒或非原装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94955" y="4800600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32115" y="4864608"/>
            <a:ext cx="18348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质量缺陷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32115" y="5175504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损坏、功能故障、做工差、临期过期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41270" y="4800600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78430" y="4864608"/>
            <a:ext cx="18348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货不对板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178430" y="5175504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错发，或颜色、尺码、型号、材质与描述不符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287585" y="4800600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24745" y="4864608"/>
            <a:ext cx="18348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少件漏发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424745" y="5175504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少发、漏发、缺配件、只收到部分商品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533900" y="4800600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71060" y="4864608"/>
            <a:ext cx="18348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包装破损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671060" y="5175504"/>
            <a:ext cx="1834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外包装破损、被拆开或没有防护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项目方法 · 项目结构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四个模块，都从同一张订单宽表计算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订单宽表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：每个订单一行、汇总订单、商品、评价和标签信息的明细表（dwd_qc_order）；看板、报告、SQL 取数的指标都从这张表计算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每次运行先执行 18 项数据校验，全部通过才输出结果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92024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14884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模块① 指标体系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651760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 个指标，25 个已用公开数据实现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017520"/>
            <a:ext cx="4873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指标字典：定义、公式、口径 SQL、基准值、预警规则；六条口径规则；口径变更记录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53912" y="192024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2148840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2823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214884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模块② 经营看板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2651760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页交互看板 + BI 工具搭建指南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3017520"/>
            <a:ext cx="4873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经营总览（含预警清单）、商家分层、指标口径；附 Power BI 与 Tableau 的搭建步骤、Excel 商家品质月报模板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114800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11480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617720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3 个问题，测算 3 项举措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983480"/>
            <a:ext cx="4873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因素分解、订单结构、商家分层、品类；中性情景下品质客诉率从 5.00% 降到 3.82%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53912" y="388620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8232" y="4114800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2823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976872" y="411480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模块④ SQL 取数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4617720"/>
            <a:ext cx="4873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道业务取数题，全部实际运行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428232" y="4983480"/>
            <a:ext cx="4873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业务原话 → 口径 → SQL → 自检 → 错误写法对比；4 道与看板数字逐一核对一致；5 道另有 Hive / Spark SQL 版本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项目方法 · 数据与标签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公开数据没有客诉记录，用评价星级和评价文字识别品质问题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标注样本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12,780 条"签收订单、最后一次评价 1-3 星、有文字"的评价中随机抽取的 200 条；由大模型逐条阅读葡语原文给出真实标签（判定时不看规则结果）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迭代识别规则后，另抽一批新样本评估，避免只在同一批样本上调规则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19842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 8 张表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行数与源文件逐一核对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081528" y="21945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DC7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364992" y="18745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19842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DWD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 + 订单宽表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只取最后一次评价、主品类归属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21945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DC7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6181344" y="18745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9944" y="19842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DWS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 / 品类 × 月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9944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只存订单数，不存比率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1945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DC7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8997696" y="187452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26296" y="19842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3865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看板与商家分层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月度核心指标、商家品质分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品控环节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本项目数据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 / 品牌方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Olist 商家（3,095 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客诉记录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最后一次评价的星级 + 葡语评价文字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发货时效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平台规定发货时限（shipping_limit_date）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入仓质检 / 退货原因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公开数据没有 → 定义为待接入指标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6446520" y="3291840"/>
            <a:ext cx="5196535" cy="2377440"/>
          </a:xfrm>
          <a:prstGeom prst="roundRect">
            <a:avLst>
              <a:gd name="adj" fmla="val 3077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675120" y="3401568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评价文字 → 8 个标签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675120" y="3767328"/>
            <a:ext cx="4739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品质问题标签 5 个：假货、质量缺陷、货不对板、少件漏发、包装破损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履约服务标签 3 个：未收到货、物流延迟、服务售后（不计入品质客诉订单）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标签精确率 97.4%：规则判为品质问题的 78 条中，标注样本也判为品质问题的 76 条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标签召回率 74.5%：标注样本判为品质问题的 102 条中，规则也判为品质问题的 76 条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模块① 指标体系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指标分四层：核心指标、结果指标、体验指标、过程指标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：衡量品控结果、用于考核的唯一指标，本项目为品质客诉率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考核只用核心指标；结果指标变差时，顺着品控环节找对应的过程指标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04008" y="1874520"/>
            <a:ext cx="6583680" cy="868680"/>
          </a:xfrm>
          <a:prstGeom prst="roundRect">
            <a:avLst>
              <a:gd name="adj" fmla="val 8421"/>
            </a:avLst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95448" y="19202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　品质客诉率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5448" y="2304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下单月 2018-01 至 2018-08：5.00%　｜　中心线（2017 年）：4.31%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结果指标：按品质问题标签拆开（下单月 2018-01 至 2018-08）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337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少件漏发客诉率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57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1.90%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2029968" y="324612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21408" y="3337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质量缺陷客诉率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121408" y="3657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1.59%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3511296" y="324612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02736" y="3337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货不对板客诉率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602736" y="3657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1.60%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992624" y="324612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84064" y="3337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假货客诉率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084064" y="3657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22.0 单/万单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73952" y="324612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65392" y="3337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包装破损客诉率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565392" y="36576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0.12%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138160" y="3246120"/>
            <a:ext cx="3502152" cy="868680"/>
          </a:xfrm>
          <a:prstGeom prst="roundRect">
            <a:avLst>
              <a:gd name="adj" fmla="val 8421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体验指标：差评率、平均评分、差评品质原因占比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36393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受物流和服务影响，只观察，不用于考核品控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315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过程指标：按品控环节拆开（在用户签收之前就能观测）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636008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745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商品准入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50932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动销商品信息完整率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高风险品类订单占比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364992" y="4636008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47872" y="4745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商家管理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3547872" y="50932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发货超时率 · 商家品质分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高风险商家数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81344" y="4636008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364224" y="4745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仓配履约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364224" y="50932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准时签收率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多件订单少件漏发客诉率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997696" y="4636008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4636008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DC7CF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9180576" y="4745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待接入（内部数据）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180576" y="50932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入仓质检合格率 · 问题商品拦截率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品质退货率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模块① 指标体系 · 口径规则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六条口径规则，保证看板、报告、SQL 取数算出同一个数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按下单月归属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：一个订单的分子、分母都记在它的下单月，保证分子和分母是同一批订单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口径变更记入指标字典的"口径变更记录"工作表，并通知使用方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20116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按下单月归属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下单月 2018-03：按下单月归属为 4.97%；分子按评价月、分母按签收月则为 5.25%，分子分母不是同一批订单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8745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8056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864608" y="20116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签收订单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订单状态为已签收且签收时间不为空；源数据有 8 个订单状态为已签收、但没有签收时间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46720" y="1874520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613648" y="20116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只取最后一次评价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源数据有 547 个订单有多条评价，只使用提交时间最晚的一条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319272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438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3456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品质客诉订单只认 1-3 星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386791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4-5 星评价里的"sem defeito（没有瑕疵）"会被关键词误识别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0" y="3319272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80560" y="3438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4864608" y="3456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一个订单可命中多个标签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386791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个结果指标之和大于品质客诉率，不能相加；需要互斥的结构占比时用主标签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046720" y="3319272"/>
            <a:ext cx="3566160" cy="1325880"/>
          </a:xfrm>
          <a:prstGeom prst="roundRect">
            <a:avLst>
              <a:gd name="adj" fmla="val 5517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3438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613648" y="3456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比率在最后一步计算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汇总表只存订单数；各品类品质客诉率的简单平均 ≠ 全部签收订单的品质客诉率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846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口径变更记录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12700">
            <a:solidFill>
              <a:srgbClr val="CDC7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312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1006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" y="51480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v0.1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5440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关键词命中即计入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807208" y="5312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1006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63240" y="51480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v0.2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3063240" y="5440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限定 1-3 星 + 剔除否定句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047488" y="5312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1006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03520" y="51480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v0.3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303520" y="5440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包装破损从质量缺陷中剥离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87768" y="5312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1006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43800" y="51480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v0.4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543800" y="5440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 140 条，修正 8 条规则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528048" y="5312664"/>
            <a:ext cx="164592" cy="164592"/>
          </a:xfrm>
          <a:prstGeom prst="ellipse">
            <a:avLst/>
          </a:prstGeom>
          <a:solidFill>
            <a:srgbClr val="E1006C"/>
          </a:solidFill>
          <a:ln w="19050">
            <a:solidFill>
              <a:srgbClr val="E1006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84080" y="51480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84080" y="5440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口径冻结，四个模块同源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模块② 经营看板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看板第一屏回答"好不好"，第二屏回答"在哪里"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预警清单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：看板第一屏的三类预警：控制图越限的月份、品质客诉率连续 3 个月上升的主品类、按评价日期连续 3 天及以上每天都有品质客诉订单的商家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预警触发后点一下即可筛选到对应的一级类目，或跳到商家分层页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pic>
        <p:nvPicPr>
          <p:cNvPr id="12" name="Image 0" descr="/home/user/intern-project/docs/images/dashboard_overvie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6217920" cy="37490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548640" y="1965960"/>
            <a:ext cx="6217920" cy="3749040"/>
          </a:xfrm>
          <a:prstGeom prst="rect">
            <a:avLst/>
          </a:prstGeom>
          <a:ln w="9525">
            <a:solidFill>
              <a:srgbClr val="E9E6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1874520"/>
            <a:ext cx="4556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第一屏：好不好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2203704"/>
            <a:ext cx="4556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核心指标、体验指标与上期对比；品质客诉率控制图；预警清单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852928"/>
            <a:ext cx="4556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第二屏：在哪里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3182112"/>
            <a:ext cx="4556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结果指标本期与上期对比；一级类目、订单结构、主品类明细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3831336"/>
            <a:ext cx="4556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比率在最后一步计算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4160520"/>
            <a:ext cx="4556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汇总表只存订单数，任意筛选组合下都先求和再相除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4809744"/>
            <a:ext cx="4556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口径可查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5138928"/>
            <a:ext cx="4556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第三页直接展示指标字典和六条口径规则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分析框架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差评率在下降，品质客诉率在上升：先判断是不是真变了，再找原因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：最后一次评价为 1-2 星（差评）的订单数 ÷ 有评价的订单数；受物流和服务影响，属于体验指标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按"结论 → 问题 → 举措"的顺序展开，下面每一页回答一个问题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品质客诉率是持续偏移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还是随机波动？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2316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60604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差评里品质问题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的占比怎么变？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8056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因素分解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来自结构效应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还是组内效应？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定位问题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订单结构 · 商家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 · 商品信息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证伪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新商家？晚到损坏？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影响复购？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921240" y="1920240"/>
            <a:ext cx="1691640" cy="187452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104120" y="2057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10104120" y="25146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治理测算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104120" y="29260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三项举措能降到多少？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2336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4133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4498848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品质客诉率从 2017 年的 4.31% 升到 下单月 2018-01 至 2018-08 的 5.00%（z = 5.05，p &lt; 0.0001），控制图上连续 11 个月高于中心线；同期差评率随准时签收率回落。上升来自组内效应（+0.74pp），集中在多件订单、高风险商家和假货三处。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结论①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品质客诉率持续偏移；差评率跟着准时签收率变化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持续偏移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：控制图上连续 9 个及以上月份落在中心线同一侧，说明变化不是随机波动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考核品控用品质客诉率，差评率只作为体验指标观察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7665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303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越限：2018-02、2018-05、2018-06，当月品质客诉率高于上控制限；持续偏移：2017-10 至 2018-08 连续 11 个月高于中心线</a:t>
            </a:r>
            <a:endParaRPr lang="en-US" sz="11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7498080" y="1828800"/>
          <a:ext cx="4160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Chart 2" descr=""/>
          <p:cNvGraphicFramePr/>
          <p:nvPr/>
        </p:nvGraphicFramePr>
        <p:xfrm>
          <a:off x="7498080" y="3840480"/>
          <a:ext cx="41605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结论②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差评品质原因占比从 21.9% 升到 35.2%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差评品质原因占比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：最后一次评价为差评的订单中，主标签属于品质问题标签的订单所占的比例（分母含无文字的差评）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物流问题缓解之后，差评里剩下的品质问题交给品控治理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7589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8503920" y="1874520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21.9% → 35.2%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0" y="2441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差评品质原因占比：下单季度 2017Q1 → 2018Q3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3154680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37.3% → 27.8%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37216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主标签为履约服务标签的差评占比：2018Q1 → 2018Q3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差评按主标签分类，每个差评只属于一类；2018Q3 只有 7、8 两个月。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结论③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上升来自组内效应：同一类目自身在变差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组内效应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：Σ（2017 年各一级类目签收订单占比 × 该类目品质客诉率的变化）；与之相对，结构效应是各类目占比变化带来的变化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治理对象是具体类目里的订单、商家和商品，而不是调整品类结构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28800"/>
            <a:ext cx="4023360" cy="3931920"/>
          </a:xfrm>
          <a:prstGeom prst="roundRect">
            <a:avLst>
              <a:gd name="adj" fmla="val 1860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1938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因素分解（按一级类目）：品质客诉率 +0.69pp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4871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组内效应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+0.74pp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8986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同一类目自身品质客诉率的变化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419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结构效应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4198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−0.01pp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8313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各类目签收订单占比的变化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352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4352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−0.04pp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7640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占比变化 × 品质客诉率变化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57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组内效应最大的一级类目：3C数码、钟表与潮流好物、家居家纺、母婴玩具</a:t>
            </a:r>
            <a:endParaRPr lang="en-US" sz="11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4846320" y="1828800"/>
          <a:ext cx="68122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4937760" y="51663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假货客诉率：2017 年 12.0 单/万单 → 2018 年 1-8 月 22.0 单/万单（以"单/万单"表示，未画入左图）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问题①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多件订单占签收订单 10.0%，贡献 33.6% 的品质客诉订单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：件数不少于 2 的签收订单（件数 = 订单包含的商品行数），分为同 SKU 多件、单商家多 SKU、多商家三类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A：多件订单出库复核 + 分包裹提醒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8001000" y="182880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10.0%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3957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多件订单数 ÷ 签收订单数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9260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33.6%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4930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多件订单中的品质客诉订单数 ÷ 全部品质客诉订单数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02336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4.6 倍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902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多件订单品质客诉率 15.79% ÷ 单件订单 3.46%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5166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多件订单中命中少件漏发标签的品质客诉订单，99.8% 的评价日期不早于签收日期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问题②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家高风险商家，贡献 12.5% 的商家品质客诉订单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高风险商家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：参评商家中，平滑品质客诉率 ≥ 商家基准品质客诉率 × 2，且商家品质客诉订单不少于 3 单；平滑品质客诉率 =（商家品质客诉订单数 + 50 × 商家基准品质客诉率）÷（商家签收订单数 + 50）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B：高风险商家和需关注商家整改；评估整改效果时设对照组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949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257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参评商家：商家评估窗口内商家签收订单不少于 30 单的商家；一个订单含多个商家时，每个商家各计 1 单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182880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18.65%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3957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高风险商家的品质客诉率（正常商家为 4.11%）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29260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10 家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4930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 置信区间（Wilson）下限高于商家基准品质客诉率的高风险商家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02336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倍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5902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回测：检验期品质客诉率 ÷ 检验期商家基准品质客诉率（3 组窗口按商家数加权）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问题③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假货集中在电脑配件和钟表礼品；大件家具少件漏发和质量缺陷多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假货客诉率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：命中假货标签的品质客诉订单数 ÷ 签收订单数，以"单/万单"表示（每 1 万个签收订单中的个数）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C：一级类目 3C数码、钟表与潮流好物的正品与商品描述专项；商品信息缺一项不允许上架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903720" y="1828800"/>
            <a:ext cx="4739335" cy="1216152"/>
          </a:xfrm>
          <a:prstGeom prst="roundRect">
            <a:avLst>
              <a:gd name="adj" fmla="val 6015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0" y="1938528"/>
            <a:ext cx="4282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228600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假货客诉率：电脑配件 66.2 单/万单，钟表礼品 53.0 单/万单；全部签收订单 17.7 单/万单（下单月 2017-01 至 2018-08，按主品类）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03720" y="3154680"/>
            <a:ext cx="4739335" cy="1216152"/>
          </a:xfrm>
          <a:prstGeom prst="roundRect">
            <a:avLst>
              <a:gd name="adj" fmla="val 6015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3264408"/>
            <a:ext cx="4282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办公家具 10.76%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361188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少件漏发客诉率 5.78%、质量缺陷客诉率 4.42%；单件订单中重量 ≥ 15kg 的商品，品质客诉率 6.26%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03720" y="4480560"/>
            <a:ext cx="4739335" cy="1216152"/>
          </a:xfrm>
          <a:prstGeom prst="roundRect">
            <a:avLst>
              <a:gd name="adj" fmla="val 6015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0" y="4590288"/>
            <a:ext cx="4282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商品信息缺失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132320" y="493776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单件订单中，主商品缺少品类、图片、描述信息的，假货客诉率 138.0 单/万单；有 1 张及以上图片的 15.9 单/万单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品类结构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穿戴类占比调为 75% 时，假货客诉率从 22.0 单/万单 升到 45.1 单/万单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品类结构重加权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：把穿戴类在签收订单中的占比从 9.2% 调为 75%，用两类各自 2018 年 1-8 月的指标重算整体指标；75% 取自唯品会 2024 年财报报道的穿戴类 GMV 占比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穿戴类入仓质检把成分、标签与商品描述是否一致列为必检项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3291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Chart 1" descr=""/>
          <p:cNvGraphicFramePr/>
          <p:nvPr/>
        </p:nvGraphicFramePr>
        <p:xfrm>
          <a:off x="3977640" y="1828800"/>
          <a:ext cx="3291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53035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穿戴类：主品类属于一级类目"服饰鞋包"，或主品类为"钟表礼品""童装"的签收订单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498080" y="1828800"/>
            <a:ext cx="4144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3.74% → 5.08%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0" y="239572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穿戴类品质客诉率，2017 年 → 2018 年 1-8 月（z = 3.01，p &lt; 0.01）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498080" y="3063240"/>
            <a:ext cx="4144975" cy="2651760"/>
          </a:xfrm>
          <a:prstGeom prst="roundRect">
            <a:avLst>
              <a:gd name="adj" fmla="val 2759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680960" y="317296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外部参考：国家监督抽查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0" y="3493008"/>
            <a:ext cx="37792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 年在 15 家电商平台抽查羽绒服 185 批次，26 批次不合格（不合格率 14.1%），其中 19 批次是纤维含量与标称不符，属于货不对板。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来源：市场监管总局抽查通报（经新闻转载），见 data/external/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证伪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三个直觉上成立的假设：两个不成立，一个证据不足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证伪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：用数据检验一个直觉上成立的假设；数据不支持时，不据此投入治理资源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准入审核不是主要短板；物流时效与品质问题分开治理；复购问题等接入会员数据再回答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3566160" cy="3886200"/>
          </a:xfrm>
          <a:prstGeom prst="roundRect">
            <a:avLst>
              <a:gd name="adj" fmla="val 2051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0756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新入驻商家品质更差？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7889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6E6872"/>
          </a:solidFill>
          <a:ln w="12700">
            <a:solidFill>
              <a:srgbClr val="6E68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不成立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37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入驻不足 3 个月的商家 4.94%，入驻 12 个月以上 5.38%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262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品质客诉率按商家签收订单计算（下单月 2017-07 至 2018-08）；入驻时长 = 下单时间 − 商家第一个订单的时间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97680" y="1874520"/>
            <a:ext cx="3566160" cy="3886200"/>
          </a:xfrm>
          <a:prstGeom prst="roundRect">
            <a:avLst>
              <a:gd name="adj" fmla="val 2051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26280" y="20756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送晚了导致更多损坏？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26280" y="27889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6E6872"/>
          </a:solidFill>
          <a:ln w="12700">
            <a:solidFill>
              <a:srgbClr val="6E68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不成立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3337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延迟签收订单 2.99%，准时签收订单 4.81%；包装破损客诉率 0.11% vs 0.12%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5262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延迟签收订单：签收日期晚于承诺送达日期的签收订单（下单月 2017-01 至 2018-08）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46720" y="1874520"/>
            <a:ext cx="3566160" cy="3886200"/>
          </a:xfrm>
          <a:prstGeom prst="roundRect">
            <a:avLst>
              <a:gd name="adj" fmla="val 2051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20756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首单遇到品质问题会流失？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275320" y="278892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7532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3337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首单为品质客诉订单的用户复购率 3.9%，首单 5 星 4.3%；全部用户 4.1%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52628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复购率：首单早于 2018-03-01、首单签收且有评价的用户中，分析窗口内下过 2 个及以上订单的用户所占比例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举措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三项举措在中性情景下，把品质客诉率从 5.00% 降到 3.82%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治理测算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：以 2018 年 1-8 月的签收订单为基期，估算举措实施后的品质客诉率；一个品质客诉订单被多项举措覆盖时，按 1 − Π(1 − 各举措降幅) 叠加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先在部分仓库试点举措 A，用试点组相对对照组的变化评估效果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6035040" cy="0"/>
          </a:xfrm>
          <a:prstGeom prst="line">
            <a:avLst/>
          </a:prstGeom>
          <a:noFill/>
          <a:ln w="12700">
            <a:solidFill>
              <a:srgbClr val="CDC7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4880" y="2636374"/>
            <a:ext cx="731520" cy="2438546"/>
          </a:xfrm>
          <a:prstGeom prst="rect">
            <a:avLst/>
          </a:prstGeom>
          <a:solidFill>
            <a:srgbClr val="161418"/>
          </a:solidFill>
          <a:ln w="12700">
            <a:solidFill>
              <a:srgbClr val="1614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4840" y="230719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5.00%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4840" y="5148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基期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72640" y="2636374"/>
            <a:ext cx="731520" cy="350203"/>
          </a:xfrm>
          <a:prstGeom prst="rect">
            <a:avLst/>
          </a:prstGeom>
          <a:solidFill>
            <a:srgbClr val="F08CB8"/>
          </a:solidFill>
          <a:ln w="12700">
            <a:solidFill>
              <a:srgbClr val="F08CB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52600" y="230719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−0.72pp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52600" y="5148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0" y="2986577"/>
            <a:ext cx="731520" cy="151766"/>
          </a:xfrm>
          <a:prstGeom prst="rect">
            <a:avLst/>
          </a:prstGeom>
          <a:solidFill>
            <a:srgbClr val="F08CB8"/>
          </a:solidFill>
          <a:ln w="12700">
            <a:solidFill>
              <a:srgbClr val="F08C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657393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−0.31pp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5148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B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28160" y="3138343"/>
            <a:ext cx="731520" cy="75493"/>
          </a:xfrm>
          <a:prstGeom prst="rect">
            <a:avLst/>
          </a:prstGeom>
          <a:solidFill>
            <a:srgbClr val="F08CB8"/>
          </a:solidFill>
          <a:ln w="12700">
            <a:solidFill>
              <a:srgbClr val="F08C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08120" y="2809159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−0.15pp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008120" y="5148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举措 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55920" y="3213836"/>
            <a:ext cx="731520" cy="1861084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35880" y="28846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35880" y="5148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中性情景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0468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三组情景：悲观 4.32% · 中性 3.82% · 乐观 3.34%（各情景的降幅假设见附录④）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49440" y="1828800"/>
            <a:ext cx="4693615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0" y="1993392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3232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662672" y="1975104"/>
            <a:ext cx="3779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多件订单出库复核 + 分包裹提醒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662672" y="2304288"/>
            <a:ext cx="37792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作用对象：多件订单中命中少件漏发标签的品质客诉订单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72491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跟踪指标：多件订单少件漏发客诉率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949440" y="3154680"/>
            <a:ext cx="4693615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32320" y="3319272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662672" y="3300984"/>
            <a:ext cx="3779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高风险商家和需关注商家整改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662672" y="3630168"/>
            <a:ext cx="37792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作用对象：主商家为高风险商家或需关注商家的品质客诉订单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62672" y="405079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跟踪指标：高风险商家数、高风险商家整改完成率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949440" y="4480560"/>
            <a:ext cx="4693615" cy="1234440"/>
          </a:xfrm>
          <a:prstGeom prst="roundRect">
            <a:avLst>
              <a:gd name="adj" fmla="val 592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32320" y="4645152"/>
            <a:ext cx="384048" cy="384048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13232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662672" y="4626864"/>
            <a:ext cx="3779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3C数码、钟表与潮流好物正品与商品描述专项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7662672" y="4956048"/>
            <a:ext cx="37792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作用对象：主品类属于这两个一级类目、且命中假货或货不对板标签的品质客诉订单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62672" y="537667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跟踪指标：假货客诉率、货不对板客诉率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模块③ 专题分析 · 抽检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出库只复核多件订单，就能覆盖 75.4% 的出库类问题订单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问题订单覆盖率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：按风险分从高到低抽检一定比例的签收订单时，抽到的问题订单数 ÷ 全部问题订单数；用 2017-09 至 2018-02 计算风险分，在下单月 2018-03 至 2018-08 上检验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入仓抽检按商家 × 品类风险分排序；接入商家历史质检结果后重新计算风险分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7498080" y="1828800"/>
            <a:ext cx="4144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75.4%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39572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复核全部多件订单（占签收订单 10.0%）时的出库类问题订单覆盖率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3017520"/>
            <a:ext cx="4144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15.7% vs 10.3%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358444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入仓抽检比例 10% 时的入仓类问题订单覆盖率：商家 × 品类风险分 vs 随机顺序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498080" y="4206240"/>
            <a:ext cx="4144975" cy="1554480"/>
          </a:xfrm>
          <a:prstGeom prst="roundRect">
            <a:avLst>
              <a:gd name="adj" fmla="val 4706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80960" y="429768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两类问题订单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4599432"/>
            <a:ext cx="3779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入仓类：命中质量缺陷、货不对板或假货标签的品质客诉订单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出库类：命中少件漏发标签的品质客诉订单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模块④ SQL 取数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道业务取数题全部实际运行，4 道与看板数字逐一核对一致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对账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：同一个数用两条独立的计算路径算出并比较，完全一致才算通过；本项目用 SQL 题的结果核对数仓和看板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拿到取数需求先写口径和假设，再写 SQL；交付时附口径说明和自检结果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640080"/>
                <a:gridCol w="265176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月度订单概览、只取最后一次评价、差评率最高的品类、明细导出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条件聚合、ROW_NUMBER 去重、一对多先去重、半开区间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月度品质客诉率、类目内前 3 名、连续 3 个月上升、中位数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DENSE_RANK、LAG + 月份连续、分位数、递归 CTE 补 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首单复购、帕累托、高风险商家、对账、连续 3 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customer_unique_id、累计窗口、贝叶斯平滑、Gaps &amp; Islands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看板与业务方自己算的品质客诉率对不上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按下单月归属 vs 按事件时间归属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7498080" y="187452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同一需求，错误写法与正确写法的实际结果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498080" y="2286000"/>
            <a:ext cx="4144975" cy="896112"/>
          </a:xfrm>
          <a:prstGeom prst="roundRect">
            <a:avLst>
              <a:gd name="adj" fmla="val 8163"/>
            </a:avLst>
          </a:prstGeom>
          <a:solidFill>
            <a:srgbClr val="F6F4F6"/>
          </a:solidFill>
          <a:ln w="12700">
            <a:solidFill>
              <a:srgbClr val="F6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235915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按下单月归属 vs 分子按评价月、分母按签收月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26517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错：5.25%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2651760"/>
            <a:ext cx="2041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对：4.97%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2907792"/>
            <a:ext cx="37792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下单月 2018-03 的品质客诉率（Q18）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337560"/>
            <a:ext cx="4144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两张一对多的表直接 JOIN 后求和：金额被放大，"对不上"的订单数虚高（Q14）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customer_id 计算复购率：它是每个订单一个，复购率算出来是 0（Q09）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多件订单 JOIN 商品行后计数：订单数被放大成商品行数（Q08）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8920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道对账题：月度品质客诉率、准时签收率、高风险商家名单、下单月 2018-03 的品质客诉率；5 道另有 Hive / Spark SQL 版本，与 MySQL 结果逐行核对；另附 45 分钟笔试模拟卷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项目方法 · 可信度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所有数字可以复现、可以对账，已知局限已经量化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数据校验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：每次运行自动执行的 18 项检查（跨层对账、主键唯一、分子不大于分母等），任一项不通过就不输出结果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接入内部数据后，先对齐口径，再接入入仓质检和退货数据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5394960" cy="3886200"/>
          </a:xfrm>
          <a:prstGeom prst="roundRect">
            <a:avLst>
              <a:gd name="adj" fmla="val 1882"/>
            </a:avLst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数据校验：18 项全部通过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48716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完整性：原始数据 → 订单宽表不丢单、不重复；标签覆盖全部评价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唯一性：订单宽表每个订单一行，每个订单只取最后一次评价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一致性：订单宽表 = 汇总表 = 看板，三处的订单数相等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合理性：比率在 0 到 1 之间、分子不大于分母、品质客诉订单只来自 1-3 星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已知数据问题公开并写明处理方式：时间倒挂 189 个订单、多条评价 547 个订单、支付金额与商品金额不一致 249 个订单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920240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331720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规则偏保守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624328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标签精确率 97.4%、标签召回率 74.5%：品质客诉率的绝对值偏低；2017 年、2018 年标签召回率为 78.0% 和 72.1%，上升趋势不会被高估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200400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没有质检数据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493008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入仓质检合格率、问题商品拦截率已定义口径，待接入内部数据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069080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单一平台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4361688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方法可以迁移；平滑参数（50 单）、预警规则需要用新数据重新校准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4937760"/>
            <a:ext cx="5379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最近一个月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5230368"/>
            <a:ext cx="5379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2018-08 品质客诉率 4.36%：评价回收率与 7 月相当，与 7 月的差异不显著（p = 0.09），继续观察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对齐口径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375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8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把品质客诉率、品质退货率与现有指标字典对齐，确认时间归属和去重规则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2103120"/>
            <a:ext cx="502920" cy="5029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接入质检与退货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33375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8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补齐入仓质检合格率、问题商品拦截率，把结果指标和过程指标连起来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2103120"/>
            <a:ext cx="502920" cy="5029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8346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做一轮完整闭环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3375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C8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从多件订单少件漏发切入，完成一轮"发现 → 举措 → 复盘"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8D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项目材料：指标字典与商家品质月报模板（Excel）· 交互看板（HTML）· 专题分析报告（Word）· SQL 题库（19 题 + 5 道 Hive 版 + 笔试模拟卷）· 精简版 PPT · 面试讲稿；全部代码可用 Docker 一键复现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附录① 统计检验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品质客诉率的上升超出随机波动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两比例 z 检验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：检验两期品质客诉率之差是否超出随机波动；p 值 &lt; 0.05 视为显著。95% 置信区间按 Wilson 方法计算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被问到"这个差异显著吗"时，用这一页回答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120640"/>
                <a:gridCol w="23134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2017 年 vs 2018 年 1-8 月品质客诉率（两比例 z 检验）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 = 5.05，p &lt; 0.0001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显著上升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 置信区间（Wilson）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2017 年 4.12% – 4.50%；2018 年 1-8 月 4.82% – 5.19%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区间不重叠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货不对板客诉率 / 假货客诉率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 = 5.19（p &lt; 0.0001）/ z = 3.51（p &lt; 0.01）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均显著上升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控制图（中心线 = 2017 年品质客诉率）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2017 年 12 个月均在控制限内；2018 年 3 个月越限；连续 11 个月高于中心线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持续偏移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穿戴类 2017 年 vs 2018 年 1-8 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 = 3.01，p &lt; 0.01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显著上升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高风险商家（Wilson 下限 &gt; 商家基准品质客诉率）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/ 10 家显著；未平滑的品质客诉率 ≥ 商家基准 × 2 的 28 家参评商家中 4 家不显著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平滑后的名单可信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附录② 标签评估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标签精确率 97.4%、标签召回率 74.5%：规则偏保守，但两年一致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标签召回率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：规则判为品质问题、且标注样本也判为品质问题的评价数 ÷ 标注样本判为品质问题的评价数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漏标主要是货不对板的口语化说法和只收到部分商品；迭代规则后另抽新样本评估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品质问题标签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标注样本中的条数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标签精确率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标签召回率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质量缺陷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92.9%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货不对板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少件漏发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71.8%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包装破损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任一品质问题标签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97.4%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858000" y="1874520"/>
            <a:ext cx="47850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78.0% vs 72.1%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2441448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标注样本中下单年份为 2017 年 / 2018 年的评价，标签召回率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3108960"/>
            <a:ext cx="47850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倍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3675888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标签精确率 ÷ 标签召回率；品质客诉率的真实值约为规则值乘以这个倍数（2018 年 1-8 月约 6.54%）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0" y="4663440"/>
            <a:ext cx="47850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标注样本逐条明细见 outputs/qa/tag_gold_set.csv（葡语原文、中文释义、规则结果、判定）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附录③ 商家分层回测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三组回测窗口中，排序都是高风险商家 &gt; 需关注商家 &gt; 正常商家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回测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：用一个 6 个月窗口（训练期）给商家分层，再计算同一批商家在紧接着的 6 个月（检验期）的品质客诉率 ÷ 检验期的商家基准品质客诉率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评估整改效果必须设对照组，否则会把自然回落误判为整改成果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8288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7818120" y="1874520"/>
            <a:ext cx="38249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倍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44144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高风险商家（3 组窗口共 11 家次），按商家数加权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3017520"/>
            <a:ext cx="38249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 倍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358444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对照：未平滑的品质客诉率 ≥ 商家基准 × 2 的商家（83 家次）；名单更长、倍数更低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251960"/>
            <a:ext cx="3824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组窗口中有 2 组，高风险商家的品质客诉率从训练期到检验期回落（13.29% → 9.66%，15.31% → 10.04%）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74320" cy="274320"/>
          </a:xfrm>
          <a:prstGeom prst="ellipse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附录④ 治理测算的情景与敏感性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悲观情景也能降到 4.32%；最敏感的是举措 A 的降幅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441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关键术语　</a:t>
            </a:r>
            <a:pPr indent="0" marL="0">
              <a:buNone/>
            </a:pPr>
            <a:r>
              <a:rPr lang="en-US" sz="1250" b="1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情景</a:t>
            </a:r>
            <a:pPr indent="0" marL="0">
              <a:buNone/>
            </a:pPr>
            <a:r>
              <a:rPr lang="en-US" sz="125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：举措降幅的三组假设：悲观（A 30%、B 15%、C 15%）、中性（50%、30%、30%）、乐观（70%、45%、45%）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solidFill>
            <a:srgbClr val="FCE6F0"/>
          </a:solidFill>
          <a:ln w="12700">
            <a:solidFill>
              <a:srgbClr val="FCE6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925312"/>
            <a:ext cx="54864" cy="384048"/>
          </a:xfrm>
          <a:prstGeom prst="rect">
            <a:avLst/>
          </a:prstGeom>
          <a:solidFill>
            <a:srgbClr val="E1006C"/>
          </a:solidFill>
          <a:ln w="12700">
            <a:solidFill>
              <a:srgbClr val="E1006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5925312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E1006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　</a:t>
            </a:r>
            <a:pPr indent="0" marL="0">
              <a:buNone/>
            </a:pPr>
            <a:r>
              <a:rPr lang="en-US" sz="1200" dirty="0">
                <a:solidFill>
                  <a:srgbClr val="16141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上线后先验证举措 A 的真实降幅，再更新测算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数据：Olist 巴西电商公开数据（脱敏真实订单），下单月 2017-01 至 2018-08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  <a:gridCol w="2286000"/>
                <a:gridCol w="228600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A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B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C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治理后品质客诉率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悲观情景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中性情景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6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乐观情景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2103120"/>
                <a:gridCol w="21305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单因素敏感性（其余两项取中性降幅）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取悲观降幅时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取乐观降幅时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影响幅度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4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A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0.54pp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B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3.96%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0.29pp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举措 C 降幅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41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0.15pp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差评率在下降，品质客诉率在上升：电商品控数据分析项目</dc:title>
  <dc:subject>PptxGenJS Presentation</dc:subject>
  <dc:creator>品控数据分析项目</dc:creator>
  <cp:lastModifiedBy>品控数据分析项目</cp:lastModifiedBy>
  <cp:revision>1</cp:revision>
  <dcterms:created xsi:type="dcterms:W3CDTF">2026-09-27T03:47:13Z</dcterms:created>
  <dcterms:modified xsi:type="dcterms:W3CDTF">2026-09-27T03:47:13Z</dcterms:modified>
</cp:coreProperties>
</file>