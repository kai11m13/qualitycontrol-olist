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品质客诉率</c:v>
                </c:pt>
              </c:strCache>
            </c:strRef>
          </c:tx>
          <c:spPr>
            <a:solidFill>
              <a:srgbClr val="0E6E6E"/>
            </a:solidFill>
            <a:ln w="25400" cap="flat">
              <a:solidFill>
                <a:srgbClr val="0E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E6E"/>
              </a:solidFill>
              <a:ln w="9525" cap="flat">
                <a:solidFill>
                  <a:srgbClr val="0E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0.048</c:v>
                </c:pt>
                <c:pt idx="1">
                  <c:v>0.041137</c:v>
                </c:pt>
                <c:pt idx="2">
                  <c:v>0.046347</c:v>
                </c:pt>
                <c:pt idx="3">
                  <c:v>0.034737</c:v>
                </c:pt>
                <c:pt idx="4">
                  <c:v>0.037518</c:v>
                </c:pt>
                <c:pt idx="5">
                  <c:v>0.045933</c:v>
                </c:pt>
                <c:pt idx="6">
                  <c:v>0.041064</c:v>
                </c:pt>
                <c:pt idx="7">
                  <c:v>0.039351</c:v>
                </c:pt>
                <c:pt idx="8">
                  <c:v>0.040723</c:v>
                </c:pt>
                <c:pt idx="9">
                  <c:v>0.046226</c:v>
                </c:pt>
                <c:pt idx="10">
                  <c:v>0.045554</c:v>
                </c:pt>
                <c:pt idx="11">
                  <c:v>0.047161</c:v>
                </c:pt>
                <c:pt idx="12">
                  <c:v>0.049653</c:v>
                </c:pt>
                <c:pt idx="13">
                  <c:v>0.052479</c:v>
                </c:pt>
                <c:pt idx="14">
                  <c:v>0.049693</c:v>
                </c:pt>
                <c:pt idx="15">
                  <c:v>0.049426</c:v>
                </c:pt>
                <c:pt idx="16">
                  <c:v>0.051415</c:v>
                </c:pt>
                <c:pt idx="17">
                  <c:v>0.053806</c:v>
                </c:pt>
                <c:pt idx="18">
                  <c:v>0.050032</c:v>
                </c:pt>
                <c:pt idx="19">
                  <c:v>0.043615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上控制限 UCL</c:v>
                </c:pt>
              </c:strCache>
            </c:strRef>
          </c:tx>
          <c:spPr>
            <a:solidFill>
              <a:srgbClr val="C9CFD1"/>
            </a:solidFill>
            <a:ln w="25400" cap="flat">
              <a:solidFill>
                <a:srgbClr val="C9CF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CFD1"/>
              </a:solidFill>
              <a:ln w="9525" cap="flat">
                <a:solidFill>
                  <a:srgbClr val="C9CF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0.065328</c:v>
                </c:pt>
                <c:pt idx="1">
                  <c:v>0.058067</c:v>
                </c:pt>
                <c:pt idx="2">
                  <c:v>0.055157</c:v>
                </c:pt>
                <c:pt idx="3">
                  <c:v>0.055778</c:v>
                </c:pt>
                <c:pt idx="4">
                  <c:v>0.053316</c:v>
                </c:pt>
                <c:pt idx="5">
                  <c:v>0.053964</c:v>
                </c:pt>
                <c:pt idx="6">
                  <c:v>0.052874</c:v>
                </c:pt>
                <c:pt idx="7">
                  <c:v>0.052492</c:v>
                </c:pt>
                <c:pt idx="8">
                  <c:v>0.052541</c:v>
                </c:pt>
                <c:pt idx="9">
                  <c:v>0.052188</c:v>
                </c:pt>
                <c:pt idx="10">
                  <c:v>0.05022</c:v>
                </c:pt>
                <c:pt idx="11">
                  <c:v>0.051289</c:v>
                </c:pt>
                <c:pt idx="12">
                  <c:v>0.05033</c:v>
                </c:pt>
                <c:pt idx="13">
                  <c:v>0.050609</c:v>
                </c:pt>
                <c:pt idx="14">
                  <c:v>0.050364</c:v>
                </c:pt>
                <c:pt idx="15">
                  <c:v>0.050473</c:v>
                </c:pt>
                <c:pt idx="16">
                  <c:v>0.0505</c:v>
                </c:pt>
                <c:pt idx="17">
                  <c:v>0.050887</c:v>
                </c:pt>
                <c:pt idx="18">
                  <c:v>0.050849</c:v>
                </c:pt>
                <c:pt idx="19">
                  <c:v>0.050728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下控制限 LCL</c:v>
                </c:pt>
              </c:strCache>
            </c:strRef>
          </c:tx>
          <c:spPr>
            <a:solidFill>
              <a:srgbClr val="C9CFD1"/>
            </a:solidFill>
            <a:ln w="25400" cap="flat">
              <a:solidFill>
                <a:srgbClr val="C9CF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CFD1"/>
              </a:solidFill>
              <a:ln w="9525" cap="flat">
                <a:solidFill>
                  <a:srgbClr val="C9CF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0.020842</c:v>
                </c:pt>
                <c:pt idx="1">
                  <c:v>0.028102</c:v>
                </c:pt>
                <c:pt idx="2">
                  <c:v>0.031012</c:v>
                </c:pt>
                <c:pt idx="3">
                  <c:v>0.030392</c:v>
                </c:pt>
                <c:pt idx="4">
                  <c:v>0.032854</c:v>
                </c:pt>
                <c:pt idx="5">
                  <c:v>0.032205</c:v>
                </c:pt>
                <c:pt idx="6">
                  <c:v>0.033295</c:v>
                </c:pt>
                <c:pt idx="7">
                  <c:v>0.033678</c:v>
                </c:pt>
                <c:pt idx="8">
                  <c:v>0.033629</c:v>
                </c:pt>
                <c:pt idx="9">
                  <c:v>0.033982</c:v>
                </c:pt>
                <c:pt idx="10">
                  <c:v>0.035949</c:v>
                </c:pt>
                <c:pt idx="11">
                  <c:v>0.034881</c:v>
                </c:pt>
                <c:pt idx="12">
                  <c:v>0.03584</c:v>
                </c:pt>
                <c:pt idx="13">
                  <c:v>0.035561</c:v>
                </c:pt>
                <c:pt idx="14">
                  <c:v>0.035806</c:v>
                </c:pt>
                <c:pt idx="15">
                  <c:v>0.035697</c:v>
                </c:pt>
                <c:pt idx="16">
                  <c:v>0.03567</c:v>
                </c:pt>
                <c:pt idx="17">
                  <c:v>0.035283</c:v>
                </c:pt>
                <c:pt idx="18">
                  <c:v>0.035321</c:v>
                </c:pt>
                <c:pt idx="19">
                  <c:v>0.035441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中心线 4.31%</c:v>
                </c:pt>
              </c:strCache>
            </c:strRef>
          </c:tx>
          <c:spPr>
            <a:solidFill>
              <a:srgbClr val="5E6B72"/>
            </a:solidFill>
            <a:ln w="25400" cap="flat">
              <a:solidFill>
                <a:srgbClr val="5E6B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6B72"/>
              </a:solidFill>
              <a:ln w="9525" cap="flat">
                <a:solidFill>
                  <a:srgbClr val="5E6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0.043085</c:v>
                </c:pt>
                <c:pt idx="1">
                  <c:v>0.043085</c:v>
                </c:pt>
                <c:pt idx="2">
                  <c:v>0.043085</c:v>
                </c:pt>
                <c:pt idx="3">
                  <c:v>0.043085</c:v>
                </c:pt>
                <c:pt idx="4">
                  <c:v>0.043085</c:v>
                </c:pt>
                <c:pt idx="5">
                  <c:v>0.043085</c:v>
                </c:pt>
                <c:pt idx="6">
                  <c:v>0.043085</c:v>
                </c:pt>
                <c:pt idx="7">
                  <c:v>0.043085</c:v>
                </c:pt>
                <c:pt idx="8">
                  <c:v>0.043085</c:v>
                </c:pt>
                <c:pt idx="9">
                  <c:v>0.043085</c:v>
                </c:pt>
                <c:pt idx="10">
                  <c:v>0.043085</c:v>
                </c:pt>
                <c:pt idx="11">
                  <c:v>0.043085</c:v>
                </c:pt>
                <c:pt idx="12">
                  <c:v>0.043085</c:v>
                </c:pt>
                <c:pt idx="13">
                  <c:v>0.043085</c:v>
                </c:pt>
                <c:pt idx="14">
                  <c:v>0.043085</c:v>
                </c:pt>
                <c:pt idx="15">
                  <c:v>0.043085</c:v>
                </c:pt>
                <c:pt idx="16">
                  <c:v>0.043085</c:v>
                </c:pt>
                <c:pt idx="17">
                  <c:v>0.043085</c:v>
                </c:pt>
                <c:pt idx="18">
                  <c:v>0.043085</c:v>
                </c:pt>
                <c:pt idx="19">
                  <c:v>0.043085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0.065"/>
          <c:min val="0.02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差评率（1-2 星 ÷ 已评价）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差评率（1-2 星 ÷ 已评价）</c:v>
                </c:pt>
              </c:strCache>
            </c:strRef>
          </c:tx>
          <c:spPr>
            <a:solidFill>
              <a:srgbClr val="8A959A"/>
            </a:solidFill>
            <a:ln w="25400" cap="flat">
              <a:solidFill>
                <a:srgbClr val="8A95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59A"/>
              </a:solidFill>
              <a:ln w="9525" cap="flat">
                <a:solidFill>
                  <a:srgbClr val="8A95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0.1557</c:v>
                </c:pt>
                <c:pt idx="1">
                  <c:v>0.1618</c:v>
                </c:pt>
                <c:pt idx="2">
                  <c:v>0.1417</c:v>
                </c:pt>
                <c:pt idx="3">
                  <c:v>0.1546</c:v>
                </c:pt>
                <c:pt idx="4">
                  <c:v>0.1277</c:v>
                </c:pt>
                <c:pt idx="5">
                  <c:v>0.1274</c:v>
                </c:pt>
                <c:pt idx="6">
                  <c:v>0.1221</c:v>
                </c:pt>
                <c:pt idx="7">
                  <c:v>0.1135</c:v>
                </c:pt>
                <c:pt idx="8">
                  <c:v>0.1244</c:v>
                </c:pt>
                <c:pt idx="9">
                  <c:v>0.1324</c:v>
                </c:pt>
                <c:pt idx="10">
                  <c:v>0.1877</c:v>
                </c:pt>
                <c:pt idx="11">
                  <c:v>0.1639</c:v>
                </c:pt>
                <c:pt idx="12">
                  <c:v>0.1551</c:v>
                </c:pt>
                <c:pt idx="13">
                  <c:v>0.2089</c:v>
                </c:pt>
                <c:pt idx="14">
                  <c:v>0.2279</c:v>
                </c:pt>
                <c:pt idx="15">
                  <c:v>0.1299</c:v>
                </c:pt>
                <c:pt idx="16">
                  <c:v>0.119</c:v>
                </c:pt>
                <c:pt idx="17">
                  <c:v>0.1078</c:v>
                </c:pt>
                <c:pt idx="18">
                  <c:v>0.1111</c:v>
                </c:pt>
                <c:pt idx="19">
                  <c:v>0.1093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0.25"/>
          <c:min val="0.05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准时签收率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准时签收率</c:v>
                </c:pt>
              </c:strCache>
            </c:strRef>
          </c:tx>
          <c:spPr>
            <a:solidFill>
              <a:srgbClr val="8A959A"/>
            </a:solidFill>
            <a:ln w="25400" cap="flat">
              <a:solidFill>
                <a:srgbClr val="8A95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59A"/>
              </a:solidFill>
              <a:ln w="9525" cap="flat">
                <a:solidFill>
                  <a:srgbClr val="8A95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17.01</c:v>
                  </c:pt>
                  <c:pt idx="1">
                    <c:v>17.02</c:v>
                  </c:pt>
                  <c:pt idx="2">
                    <c:v>17.03</c:v>
                  </c:pt>
                  <c:pt idx="3">
                    <c:v>17.04</c:v>
                  </c:pt>
                  <c:pt idx="4">
                    <c:v>17.05</c:v>
                  </c:pt>
                  <c:pt idx="5">
                    <c:v>17.06</c:v>
                  </c:pt>
                  <c:pt idx="6">
                    <c:v>17.07</c:v>
                  </c:pt>
                  <c:pt idx="7">
                    <c:v>17.08</c:v>
                  </c:pt>
                  <c:pt idx="8">
                    <c:v>17.09</c:v>
                  </c:pt>
                  <c:pt idx="9">
                    <c:v>17.10</c:v>
                  </c:pt>
                  <c:pt idx="10">
                    <c:v>17.11</c:v>
                  </c:pt>
                  <c:pt idx="11">
                    <c:v>17.12</c:v>
                  </c:pt>
                  <c:pt idx="12">
                    <c:v>18.01</c:v>
                  </c:pt>
                  <c:pt idx="13">
                    <c:v>18.02</c:v>
                  </c:pt>
                  <c:pt idx="14">
                    <c:v>18.03</c:v>
                  </c:pt>
                  <c:pt idx="15">
                    <c:v>18.04</c:v>
                  </c:pt>
                  <c:pt idx="16">
                    <c:v>18.05</c:v>
                  </c:pt>
                  <c:pt idx="17">
                    <c:v>18.06</c:v>
                  </c:pt>
                  <c:pt idx="18">
                    <c:v>18.07</c:v>
                  </c:pt>
                  <c:pt idx="19">
                    <c:v>18.08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0.9707</c:v>
                </c:pt>
                <c:pt idx="1">
                  <c:v>0.9704</c:v>
                </c:pt>
                <c:pt idx="2">
                  <c:v>0.9544</c:v>
                </c:pt>
                <c:pt idx="3">
                  <c:v>0.9344</c:v>
                </c:pt>
                <c:pt idx="4">
                  <c:v>0.9701</c:v>
                </c:pt>
                <c:pt idx="5">
                  <c:v>0.9697</c:v>
                </c:pt>
                <c:pt idx="6">
                  <c:v>0.9721</c:v>
                </c:pt>
                <c:pt idx="7">
                  <c:v>0.9709</c:v>
                </c:pt>
                <c:pt idx="8">
                  <c:v>0.9561</c:v>
                </c:pt>
                <c:pt idx="9">
                  <c:v>0.9582</c:v>
                </c:pt>
                <c:pt idx="10">
                  <c:v>0.876</c:v>
                </c:pt>
                <c:pt idx="11">
                  <c:v>0.9254</c:v>
                </c:pt>
                <c:pt idx="12">
                  <c:v>0.943</c:v>
                </c:pt>
                <c:pt idx="13">
                  <c:v>0.8587</c:v>
                </c:pt>
                <c:pt idx="14">
                  <c:v>0.8104</c:v>
                </c:pt>
                <c:pt idx="15">
                  <c:v>0.955</c:v>
                </c:pt>
                <c:pt idx="16">
                  <c:v>0.9344</c:v>
                </c:pt>
                <c:pt idx="17">
                  <c:v>0.9884</c:v>
                </c:pt>
                <c:pt idx="18">
                  <c:v>0.9662</c:v>
                </c:pt>
                <c:pt idx="19">
                  <c:v>0.9381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品质类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2018Q3(7-8月)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0.21883</c:v>
                </c:pt>
                <c:pt idx="1">
                  <c:v>0.226945</c:v>
                </c:pt>
                <c:pt idx="2">
                  <c:v>0.270612</c:v>
                </c:pt>
                <c:pt idx="3">
                  <c:v>0.219986</c:v>
                </c:pt>
                <c:pt idx="4">
                  <c:v>0.20314</c:v>
                </c:pt>
                <c:pt idx="5">
                  <c:v>0.34346</c:v>
                </c:pt>
                <c:pt idx="6">
                  <c:v>0.352103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履约类（未收货/延迟）</c:v>
                </c:pt>
              </c:strCache>
            </c:strRef>
          </c:tx>
          <c:spPr>
            <a:solidFill>
              <a:srgbClr val="E06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2018Q3(7-8月)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0.291349</c:v>
                </c:pt>
                <c:pt idx="1">
                  <c:v>0.226143</c:v>
                </c:pt>
                <c:pt idx="2">
                  <c:v>0.211436</c:v>
                </c:pt>
                <c:pt idx="3">
                  <c:v>0.284106</c:v>
                </c:pt>
                <c:pt idx="4">
                  <c:v>0.329952</c:v>
                </c:pt>
                <c:pt idx="5">
                  <c:v>0.239241</c:v>
                </c:pt>
                <c:pt idx="6">
                  <c:v>0.238774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服务类</c:v>
                </c:pt>
              </c:strCache>
            </c:strRef>
          </c:tx>
          <c:spPr>
            <a:solidFill>
              <a:srgbClr val="7FB3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2018Q3(7-8月)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0.038168</c:v>
                </c:pt>
                <c:pt idx="1">
                  <c:v>0.043304</c:v>
                </c:pt>
                <c:pt idx="2">
                  <c:v>0.061835</c:v>
                </c:pt>
                <c:pt idx="3">
                  <c:v>0.045703</c:v>
                </c:pt>
                <c:pt idx="4">
                  <c:v>0.043478</c:v>
                </c:pt>
                <c:pt idx="5">
                  <c:v>0.04135</c:v>
                </c:pt>
                <c:pt idx="6">
                  <c:v>0.039202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有文本·原因不明</c:v>
                </c:pt>
              </c:strCache>
            </c:strRef>
          </c:tx>
          <c:spPr>
            <a:solidFill>
              <a:srgbClr val="E8C0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2018Q3(7-8月)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0.204835</c:v>
                </c:pt>
                <c:pt idx="1">
                  <c:v>0.222935</c:v>
                </c:pt>
                <c:pt idx="2">
                  <c:v>0.204787</c:v>
                </c:pt>
                <c:pt idx="3">
                  <c:v>0.184857</c:v>
                </c:pt>
                <c:pt idx="4">
                  <c:v>0.166908</c:v>
                </c:pt>
                <c:pt idx="5">
                  <c:v>0.168354</c:v>
                </c:pt>
                <c:pt idx="6">
                  <c:v>0.16536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无文本</c:v>
                </c:pt>
              </c:strCache>
            </c:strRef>
          </c:tx>
          <c:spPr>
            <a:solidFill>
              <a:srgbClr val="D0D5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2018Q3(7-8月)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0.246819</c:v>
                </c:pt>
                <c:pt idx="1">
                  <c:v>0.280674</c:v>
                </c:pt>
                <c:pt idx="2">
                  <c:v>0.25133</c:v>
                </c:pt>
                <c:pt idx="3">
                  <c:v>0.265348</c:v>
                </c:pt>
                <c:pt idx="4">
                  <c:v>0.256522</c:v>
                </c:pt>
                <c:pt idx="5">
                  <c:v>0.207595</c:v>
                </c:pt>
                <c:pt idx="6">
                  <c:v>0.204562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各类问题发生率（占签收单）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 全年</c:v>
                </c:pt>
              </c:strCache>
            </c:strRef>
          </c:tx>
          <c:spPr>
            <a:solidFill>
              <a:srgbClr val="B8BFC2"/>
            </a:solidFill>
            <a:effectLst/>
          </c:spPr>
          <c:invertIfNegative val="0"/>
          <c:dLbls>
            <c:numFmt formatCode="0.0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少件/漏发</c:v>
                  </c:pt>
                  <c:pt idx="1">
                    <c:v>质量缺陷</c:v>
                  </c:pt>
                  <c:pt idx="2">
                    <c:v>货不对板</c:v>
                  </c:pt>
                  <c:pt idx="3">
                    <c:v>假货</c:v>
                  </c:pt>
                  <c:pt idx="4">
                    <c:v>包装破损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0.017</c:v>
                </c:pt>
                <c:pt idx="1">
                  <c:v>0.0152</c:v>
                </c:pt>
                <c:pt idx="2">
                  <c:v>0.012</c:v>
                </c:pt>
                <c:pt idx="3">
                  <c:v>0.0012</c:v>
                </c:pt>
                <c:pt idx="4">
                  <c:v>0.0013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 年 1-8 月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0.0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少件/漏发</c:v>
                  </c:pt>
                  <c:pt idx="1">
                    <c:v>质量缺陷</c:v>
                  </c:pt>
                  <c:pt idx="2">
                    <c:v>货不对板</c:v>
                  </c:pt>
                  <c:pt idx="3">
                    <c:v>假货</c:v>
                  </c:pt>
                  <c:pt idx="4">
                    <c:v>包装破损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0.019</c:v>
                </c:pt>
                <c:pt idx="1">
                  <c:v>0.0159</c:v>
                </c:pt>
                <c:pt idx="2">
                  <c:v>0.016</c:v>
                </c:pt>
                <c:pt idx="3">
                  <c:v>0.0022</c:v>
                </c:pt>
                <c:pt idx="4">
                  <c:v>0.0012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b="0" i="0" strike="noStrike" sz="9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品质客诉率 × 订单结构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少件/漏发</c:v>
                </c:pt>
              </c:strCache>
            </c:strRef>
          </c:tx>
          <c:spPr>
            <a:solidFill>
              <a:srgbClr val="E06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单件：3.5%（少件 0.5%）</c:v>
                  </c:pt>
                  <c:pt idx="1">
                    <c:v>同SKU多件：14.2%（少件 11.8%）</c:v>
                  </c:pt>
                  <c:pt idx="2">
                    <c:v>单商家多SKU：13.6%（少件 11.3%）</c:v>
                  </c:pt>
                  <c:pt idx="3">
                    <c:v>多商家：27.0%（少件 24.4%）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0.0053</c:v>
                </c:pt>
                <c:pt idx="1">
                  <c:v>0.1183</c:v>
                </c:pt>
                <c:pt idx="2">
                  <c:v>0.1133</c:v>
                </c:pt>
                <c:pt idx="3">
                  <c:v>0.2437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其他品质问题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单件：3.5%（少件 0.5%）</c:v>
                  </c:pt>
                  <c:pt idx="1">
                    <c:v>同SKU多件：14.2%（少件 11.8%）</c:v>
                  </c:pt>
                  <c:pt idx="2">
                    <c:v>单商家多SKU：13.6%（少件 11.3%）</c:v>
                  </c:pt>
                  <c:pt idx="3">
                    <c:v>多商家：27.0%（少件 24.4%）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0.0293</c:v>
                </c:pt>
                <c:pt idx="1">
                  <c:v>0.024000000000000007</c:v>
                </c:pt>
                <c:pt idx="2">
                  <c:v>0.02289999999999999</c:v>
                </c:pt>
                <c:pt idx="3">
                  <c:v>0.025999999999999995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正常</c:v>
                </c:pt>
              </c:strCache>
            </c:strRef>
          </c:tx>
          <c:spPr>
            <a:solidFill>
              <a:srgbClr val="D0D5D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商家数</c:v>
                  </c:pt>
                  <c:pt idx="1">
                    <c:v>签收订单</c:v>
                  </c:pt>
                  <c:pt idx="2">
                    <c:v>GMV</c:v>
                  </c:pt>
                  <c:pt idx="3">
                    <c:v>品质客诉单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0.822742</c:v>
                </c:pt>
                <c:pt idx="1">
                  <c:v>0.816025</c:v>
                </c:pt>
                <c:pt idx="2">
                  <c:v>0.794424</c:v>
                </c:pt>
                <c:pt idx="3">
                  <c:v>0.622344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需关注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商家数</c:v>
                  </c:pt>
                  <c:pt idx="1">
                    <c:v>签收订单</c:v>
                  </c:pt>
                  <c:pt idx="2">
                    <c:v>GMV</c:v>
                  </c:pt>
                  <c:pt idx="3">
                    <c:v>品质客诉单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0.143813</c:v>
                </c:pt>
                <c:pt idx="1">
                  <c:v>0.147905</c:v>
                </c:pt>
                <c:pt idx="2">
                  <c:v>0.148825</c:v>
                </c:pt>
                <c:pt idx="3">
                  <c:v>0.252913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高风险</c:v>
                </c:pt>
              </c:strCache>
            </c:strRef>
          </c:tx>
          <c:spPr>
            <a:solidFill>
              <a:srgbClr val="C841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商家数</c:v>
                  </c:pt>
                  <c:pt idx="1">
                    <c:v>签收订单</c:v>
                  </c:pt>
                  <c:pt idx="2">
                    <c:v>GMV</c:v>
                  </c:pt>
                  <c:pt idx="3">
                    <c:v>品质客诉单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0.033445</c:v>
                </c:pt>
                <c:pt idx="1">
                  <c:v>0.036071</c:v>
                </c:pt>
                <c:pt idx="2">
                  <c:v>0.056751</c:v>
                </c:pt>
                <c:pt idx="3">
                  <c:v>0.124743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品质客诉率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电脑配件</c:v>
                  </c:pt>
                  <c:pt idx="1">
                    <c:v>家具软装</c:v>
                  </c:pt>
                  <c:pt idx="2">
                    <c:v>家用电器</c:v>
                  </c:pt>
                  <c:pt idx="3">
                    <c:v>客厅家具</c:v>
                  </c:pt>
                  <c:pt idx="4">
                    <c:v>影音设备</c:v>
                  </c:pt>
                  <c:pt idx="5">
                    <c:v>手机通讯</c:v>
                  </c:pt>
                  <c:pt idx="6">
                    <c:v>居家舒适</c:v>
                  </c:pt>
                  <c:pt idx="7">
                    <c:v>未知品类</c:v>
                  </c:pt>
                  <c:pt idx="8">
                    <c:v>家装建材</c:v>
                  </c:pt>
                  <c:pt idx="9">
                    <c:v>办公家具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0.0566</c:v>
                </c:pt>
                <c:pt idx="1">
                  <c:v>0.0586</c:v>
                </c:pt>
                <c:pt idx="2">
                  <c:v>0.0589</c:v>
                </c:pt>
                <c:pt idx="3">
                  <c:v>0.0611</c:v>
                </c:pt>
                <c:pt idx="4">
                  <c:v>0.0614</c:v>
                </c:pt>
                <c:pt idx="5">
                  <c:v>0.0627</c:v>
                </c:pt>
                <c:pt idx="6">
                  <c:v>0.0649</c:v>
                </c:pt>
                <c:pt idx="7">
                  <c:v>0.0656</c:v>
                </c:pt>
                <c:pt idx="8">
                  <c:v>0.0826</c:v>
                </c:pt>
                <c:pt idx="9">
                  <c:v>0.1076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b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品质客诉率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B8BFC2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穿戴类</c:v>
                  </c:pt>
                  <c:pt idx="1">
                    <c:v>非穿戴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0.037437</c:v>
                </c:pt>
                <c:pt idx="1">
                  <c:v>0.043655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 年 1-8 月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穿戴类</c:v>
                  </c:pt>
                  <c:pt idx="1">
                    <c:v>非穿戴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0.050756</c:v>
                </c:pt>
                <c:pt idx="1">
                  <c:v>0.049927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假货投诉（每万单）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B8BFC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穿戴类</c:v>
                  </c:pt>
                  <c:pt idx="1">
                    <c:v>非穿戴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10.050251</c:v>
                </c:pt>
                <c:pt idx="1">
                  <c:v>12.675556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 年 1-8 月</c:v>
                </c:pt>
              </c:strCache>
            </c:strRef>
          </c:tx>
          <c:spPr>
            <a:solidFill>
              <a:srgbClr val="0E6E6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穿戴类</c:v>
                  </c:pt>
                  <c:pt idx="1">
                    <c:v>非穿戴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53.863683</c:v>
                </c:pt>
                <c:pt idx="1">
                  <c:v>18.769552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增益曲线：抽检 / 复核 X% 的订单，能覆盖多少问题订单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出库复核：多件订单优先（少件问题）</c:v>
                </c:pt>
              </c:strCache>
            </c:strRef>
          </c:tx>
          <c:spPr>
            <a:solidFill>
              <a:srgbClr val="E0662F"/>
            </a:solidFill>
            <a:ln w="25400" cap="flat">
              <a:solidFill>
                <a:srgbClr val="E066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662F"/>
              </a:solidFill>
              <a:ln w="9525" cap="flat">
                <a:solidFill>
                  <a:srgbClr val="E066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/>
                  </c:pt>
                  <c:pt idx="2">
                    <c:v>10%</c:v>
                  </c:pt>
                  <c:pt idx="3">
                    <c:v/>
                  </c:pt>
                  <c:pt idx="4">
                    <c:v>20%</c:v>
                  </c:pt>
                  <c:pt idx="5">
                    <c:v/>
                  </c:pt>
                  <c:pt idx="6">
                    <c:v>30%</c:v>
                  </c:pt>
                  <c:pt idx="7">
                    <c:v/>
                  </c:pt>
                  <c:pt idx="8">
                    <c:v>40%</c:v>
                  </c:pt>
                  <c:pt idx="9">
                    <c:v/>
                  </c:pt>
                  <c:pt idx="10">
                    <c:v>50%</c:v>
                  </c:pt>
                  <c:pt idx="11">
                    <c:v/>
                  </c:pt>
                  <c:pt idx="12">
                    <c:v>60%</c:v>
                  </c:pt>
                  <c:pt idx="13">
                    <c:v/>
                  </c:pt>
                  <c:pt idx="14">
                    <c:v>70%</c:v>
                  </c:pt>
                  <c:pt idx="15">
                    <c:v/>
                  </c:pt>
                  <c:pt idx="16">
                    <c:v>80%</c:v>
                  </c:pt>
                  <c:pt idx="17">
                    <c:v/>
                  </c:pt>
                  <c:pt idx="18">
                    <c:v>90%</c:v>
                  </c:pt>
                  <c:pt idx="19">
                    <c:v/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0.386</c:v>
                </c:pt>
                <c:pt idx="2">
                  <c:v>0.7538</c:v>
                </c:pt>
                <c:pt idx="3">
                  <c:v>0.7706</c:v>
                </c:pt>
                <c:pt idx="4">
                  <c:v>0.7902</c:v>
                </c:pt>
                <c:pt idx="5">
                  <c:v>0.7986</c:v>
                </c:pt>
                <c:pt idx="6">
                  <c:v>0.8084</c:v>
                </c:pt>
                <c:pt idx="7">
                  <c:v>0.8182</c:v>
                </c:pt>
                <c:pt idx="8">
                  <c:v>0.8364</c:v>
                </c:pt>
                <c:pt idx="9">
                  <c:v>0.8476</c:v>
                </c:pt>
                <c:pt idx="10">
                  <c:v>0.8615</c:v>
                </c:pt>
                <c:pt idx="11">
                  <c:v>0.8755</c:v>
                </c:pt>
                <c:pt idx="12">
                  <c:v>0.8839</c:v>
                </c:pt>
                <c:pt idx="13">
                  <c:v>0.9021</c:v>
                </c:pt>
                <c:pt idx="14">
                  <c:v>0.9133</c:v>
                </c:pt>
                <c:pt idx="15">
                  <c:v>0.9315</c:v>
                </c:pt>
                <c:pt idx="16">
                  <c:v>0.951</c:v>
                </c:pt>
                <c:pt idx="17">
                  <c:v>0.9622</c:v>
                </c:pt>
                <c:pt idx="18">
                  <c:v>0.9734</c:v>
                </c:pt>
                <c:pt idx="19">
                  <c:v>0.9874</c:v>
                </c:pt>
                <c:pt idx="2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 × 品类风险分</c:v>
                </c:pt>
              </c:strCache>
            </c:strRef>
          </c:tx>
          <c:spPr>
            <a:solidFill>
              <a:srgbClr val="0E6E6E"/>
            </a:solidFill>
            <a:ln w="25400" cap="flat">
              <a:solidFill>
                <a:srgbClr val="0E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E6E"/>
              </a:solidFill>
              <a:ln w="9525" cap="flat">
                <a:solidFill>
                  <a:srgbClr val="0E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/>
                  </c:pt>
                  <c:pt idx="2">
                    <c:v>10%</c:v>
                  </c:pt>
                  <c:pt idx="3">
                    <c:v/>
                  </c:pt>
                  <c:pt idx="4">
                    <c:v>20%</c:v>
                  </c:pt>
                  <c:pt idx="5">
                    <c:v/>
                  </c:pt>
                  <c:pt idx="6">
                    <c:v>30%</c:v>
                  </c:pt>
                  <c:pt idx="7">
                    <c:v/>
                  </c:pt>
                  <c:pt idx="8">
                    <c:v>40%</c:v>
                  </c:pt>
                  <c:pt idx="9">
                    <c:v/>
                  </c:pt>
                  <c:pt idx="10">
                    <c:v>50%</c:v>
                  </c:pt>
                  <c:pt idx="11">
                    <c:v/>
                  </c:pt>
                  <c:pt idx="12">
                    <c:v>60%</c:v>
                  </c:pt>
                  <c:pt idx="13">
                    <c:v/>
                  </c:pt>
                  <c:pt idx="14">
                    <c:v>70%</c:v>
                  </c:pt>
                  <c:pt idx="15">
                    <c:v/>
                  </c:pt>
                  <c:pt idx="16">
                    <c:v>80%</c:v>
                  </c:pt>
                  <c:pt idx="17">
                    <c:v/>
                  </c:pt>
                  <c:pt idx="18">
                    <c:v>90%</c:v>
                  </c:pt>
                  <c:pt idx="19">
                    <c:v/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0.0845</c:v>
                </c:pt>
                <c:pt idx="2">
                  <c:v>0.1581</c:v>
                </c:pt>
                <c:pt idx="3">
                  <c:v>0.241</c:v>
                </c:pt>
                <c:pt idx="4">
                  <c:v>0.3005</c:v>
                </c:pt>
                <c:pt idx="5">
                  <c:v>0.3678</c:v>
                </c:pt>
                <c:pt idx="6">
                  <c:v>0.4241</c:v>
                </c:pt>
                <c:pt idx="7">
                  <c:v>0.4687</c:v>
                </c:pt>
                <c:pt idx="8">
                  <c:v>0.5172</c:v>
                </c:pt>
                <c:pt idx="9">
                  <c:v>0.5587</c:v>
                </c:pt>
                <c:pt idx="10">
                  <c:v>0.6283</c:v>
                </c:pt>
                <c:pt idx="11">
                  <c:v>0.68</c:v>
                </c:pt>
                <c:pt idx="12">
                  <c:v>0.7222</c:v>
                </c:pt>
                <c:pt idx="13">
                  <c:v>0.7621</c:v>
                </c:pt>
                <c:pt idx="14">
                  <c:v>0.8161</c:v>
                </c:pt>
                <c:pt idx="15">
                  <c:v>0.8443</c:v>
                </c:pt>
                <c:pt idx="16">
                  <c:v>0.8803</c:v>
                </c:pt>
                <c:pt idx="17">
                  <c:v>0.9092</c:v>
                </c:pt>
                <c:pt idx="18">
                  <c:v>0.9523</c:v>
                </c:pt>
                <c:pt idx="19">
                  <c:v>0.9804</c:v>
                </c:pt>
                <c:pt idx="2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商家风险分</c:v>
                </c:pt>
              </c:strCache>
            </c:strRef>
          </c:tx>
          <c:spPr>
            <a:solidFill>
              <a:srgbClr val="7FB3B0"/>
            </a:solidFill>
            <a:ln w="25400" cap="flat">
              <a:solidFill>
                <a:srgbClr val="7FB3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B3B0"/>
              </a:solidFill>
              <a:ln w="9525" cap="flat">
                <a:solidFill>
                  <a:srgbClr val="7FB3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/>
                  </c:pt>
                  <c:pt idx="2">
                    <c:v>10%</c:v>
                  </c:pt>
                  <c:pt idx="3">
                    <c:v/>
                  </c:pt>
                  <c:pt idx="4">
                    <c:v>20%</c:v>
                  </c:pt>
                  <c:pt idx="5">
                    <c:v/>
                  </c:pt>
                  <c:pt idx="6">
                    <c:v>30%</c:v>
                  </c:pt>
                  <c:pt idx="7">
                    <c:v/>
                  </c:pt>
                  <c:pt idx="8">
                    <c:v>40%</c:v>
                  </c:pt>
                  <c:pt idx="9">
                    <c:v/>
                  </c:pt>
                  <c:pt idx="10">
                    <c:v>50%</c:v>
                  </c:pt>
                  <c:pt idx="11">
                    <c:v/>
                  </c:pt>
                  <c:pt idx="12">
                    <c:v>60%</c:v>
                  </c:pt>
                  <c:pt idx="13">
                    <c:v/>
                  </c:pt>
                  <c:pt idx="14">
                    <c:v>70%</c:v>
                  </c:pt>
                  <c:pt idx="15">
                    <c:v/>
                  </c:pt>
                  <c:pt idx="16">
                    <c:v>80%</c:v>
                  </c:pt>
                  <c:pt idx="17">
                    <c:v/>
                  </c:pt>
                  <c:pt idx="18">
                    <c:v>90%</c:v>
                  </c:pt>
                  <c:pt idx="19">
                    <c:v/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0.0814</c:v>
                </c:pt>
                <c:pt idx="2">
                  <c:v>0.133</c:v>
                </c:pt>
                <c:pt idx="3">
                  <c:v>0.2332</c:v>
                </c:pt>
                <c:pt idx="4">
                  <c:v>0.3028</c:v>
                </c:pt>
                <c:pt idx="5">
                  <c:v>0.3576</c:v>
                </c:pt>
                <c:pt idx="6">
                  <c:v>0.4053</c:v>
                </c:pt>
                <c:pt idx="7">
                  <c:v>0.4515</c:v>
                </c:pt>
                <c:pt idx="8">
                  <c:v>0.5039</c:v>
                </c:pt>
                <c:pt idx="9">
                  <c:v>0.5438</c:v>
                </c:pt>
                <c:pt idx="10">
                  <c:v>0.59</c:v>
                </c:pt>
                <c:pt idx="11">
                  <c:v>0.6354</c:v>
                </c:pt>
                <c:pt idx="12">
                  <c:v>0.7136</c:v>
                </c:pt>
                <c:pt idx="13">
                  <c:v>0.7645</c:v>
                </c:pt>
                <c:pt idx="14">
                  <c:v>0.7989</c:v>
                </c:pt>
                <c:pt idx="15">
                  <c:v>0.8341</c:v>
                </c:pt>
                <c:pt idx="16">
                  <c:v>0.8638</c:v>
                </c:pt>
                <c:pt idx="17">
                  <c:v>0.9045</c:v>
                </c:pt>
                <c:pt idx="18">
                  <c:v>0.9491</c:v>
                </c:pt>
                <c:pt idx="19">
                  <c:v>0.9773</c:v>
                </c:pt>
                <c:pt idx="20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随机抽检</c:v>
                </c:pt>
              </c:strCache>
            </c:strRef>
          </c:tx>
          <c:spPr>
            <a:solidFill>
              <a:srgbClr val="B8BFC2"/>
            </a:solidFill>
            <a:ln w="25400" cap="flat">
              <a:solidFill>
                <a:srgbClr val="B8BF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FC2"/>
              </a:solidFill>
              <a:ln w="9525" cap="flat">
                <a:solidFill>
                  <a:srgbClr val="B8BF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/>
                  </c:pt>
                  <c:pt idx="2">
                    <c:v>10%</c:v>
                  </c:pt>
                  <c:pt idx="3">
                    <c:v/>
                  </c:pt>
                  <c:pt idx="4">
                    <c:v>20%</c:v>
                  </c:pt>
                  <c:pt idx="5">
                    <c:v/>
                  </c:pt>
                  <c:pt idx="6">
                    <c:v>30%</c:v>
                  </c:pt>
                  <c:pt idx="7">
                    <c:v/>
                  </c:pt>
                  <c:pt idx="8">
                    <c:v>40%</c:v>
                  </c:pt>
                  <c:pt idx="9">
                    <c:v/>
                  </c:pt>
                  <c:pt idx="10">
                    <c:v>50%</c:v>
                  </c:pt>
                  <c:pt idx="11">
                    <c:v/>
                  </c:pt>
                  <c:pt idx="12">
                    <c:v>60%</c:v>
                  </c:pt>
                  <c:pt idx="13">
                    <c:v/>
                  </c:pt>
                  <c:pt idx="14">
                    <c:v>70%</c:v>
                  </c:pt>
                  <c:pt idx="15">
                    <c:v/>
                  </c:pt>
                  <c:pt idx="16">
                    <c:v>80%</c:v>
                  </c:pt>
                  <c:pt idx="17">
                    <c:v/>
                  </c:pt>
                  <c:pt idx="18">
                    <c:v>90%</c:v>
                  </c:pt>
                  <c:pt idx="19">
                    <c:v/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</c:v>
                </c:pt>
                <c:pt idx="1">
                  <c:v>0.0501</c:v>
                </c:pt>
                <c:pt idx="2">
                  <c:v>0.1025</c:v>
                </c:pt>
                <c:pt idx="3">
                  <c:v>0.1541</c:v>
                </c:pt>
                <c:pt idx="4">
                  <c:v>0.2011</c:v>
                </c:pt>
                <c:pt idx="5">
                  <c:v>0.2426</c:v>
                </c:pt>
                <c:pt idx="6">
                  <c:v>0.2856</c:v>
                </c:pt>
                <c:pt idx="7">
                  <c:v>0.3326</c:v>
                </c:pt>
                <c:pt idx="8">
                  <c:v>0.3858</c:v>
                </c:pt>
                <c:pt idx="9">
                  <c:v>0.4319</c:v>
                </c:pt>
                <c:pt idx="10">
                  <c:v>0.4836</c:v>
                </c:pt>
                <c:pt idx="11">
                  <c:v>0.5329</c:v>
                </c:pt>
                <c:pt idx="12">
                  <c:v>0.5829</c:v>
                </c:pt>
                <c:pt idx="13">
                  <c:v>0.6299</c:v>
                </c:pt>
                <c:pt idx="14">
                  <c:v>0.6823</c:v>
                </c:pt>
                <c:pt idx="15">
                  <c:v>0.7379</c:v>
                </c:pt>
                <c:pt idx="16">
                  <c:v>0.7848</c:v>
                </c:pt>
                <c:pt idx="17">
                  <c:v>0.8341</c:v>
                </c:pt>
                <c:pt idx="18">
                  <c:v>0.8826</c:v>
                </c:pt>
                <c:pt idx="19">
                  <c:v>0.9421</c:v>
                </c:pt>
                <c:pt idx="2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E6B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E6B72"/>
                    </a:solidFill>
                    <a:latin typeface="Arial"/>
                  </a:rPr>
                  <a:t>抽检比例（按风险分从高到低）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32B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7232B"/>
                </a:solidFill>
                <a:latin typeface="Microsoft YaHei"/>
              </a:rPr>
              <a:t>检验期品质客诉率 ÷ 平台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高风险</c:v>
                </c:pt>
              </c:strCache>
            </c:strRef>
          </c:tx>
          <c:spPr>
            <a:solidFill>
              <a:srgbClr val="C8413A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检验期 2017-07~2017-12</c:v>
                  </c:pt>
                  <c:pt idx="1">
                    <c:v>检验期 2018-01~2018-06</c:v>
                  </c:pt>
                  <c:pt idx="2">
                    <c:v>检验期 2018-03~2018-08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2.054456</c:v>
                </c:pt>
                <c:pt idx="1">
                  <c:v>2.574639</c:v>
                </c:pt>
                <c:pt idx="2">
                  <c:v>1.883666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需关注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检验期 2017-07~2017-12</c:v>
                  </c:pt>
                  <c:pt idx="1">
                    <c:v>检验期 2018-01~2018-06</c:v>
                  </c:pt>
                  <c:pt idx="2">
                    <c:v>检验期 2018-03~2018-08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1.249993</c:v>
                </c:pt>
                <c:pt idx="1">
                  <c:v>1.517956</c:v>
                </c:pt>
                <c:pt idx="2">
                  <c:v>1.589606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正常</c:v>
                </c:pt>
              </c:strCache>
            </c:strRef>
          </c:tx>
          <c:spPr>
            <a:solidFill>
              <a:srgbClr val="C9CFD1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3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检验期 2017-07~2017-12</c:v>
                  </c:pt>
                  <c:pt idx="1">
                    <c:v>检验期 2018-01~2018-06</c:v>
                  </c:pt>
                  <c:pt idx="2">
                    <c:v>检验期 2018-03~2018-08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0.895495</c:v>
                </c:pt>
                <c:pt idx="1">
                  <c:v>0.881898</c:v>
                </c:pt>
                <c:pt idx="2">
                  <c:v>0.898522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723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BF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3E6E6"/>
              </a:solidFill>
              <a:prstDash val="solid"/>
              <a:round/>
            </a:ln>
          </c:spPr>
        </c:majorGridlines>
        <c:numFmt formatCode="0.0&quot;×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2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秒：我用巴西电商平台 Olist 公开的约 10 万笔真实订单，按照这个岗位 JD 的四项职责，完整做了一遍品控数据分析：先建指标体系，再搭看板，然后做了一个专题分析，最后把取数需求整理成了一套 SQL 题。标题就是专题分析的核心结论：2018 年差评率在下降，但品质客诉率在上升，差评下降掩盖了品质问题。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这一页是全局地图，四张卡片对应 JD 的四项职责。我特别强调一点：所有产出都来自同一张宽表，指标字典里每个指标的基准值是直接执行字典里的 SQL 得到的，看板、报告和 SQL 题的数字能互相对上，这是我理解的『口径统一、对数据准确性负责』。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数据是 Olist 公开的巴西电商真实订单，行数和 Kaggle 官方版本完全一致。它是平台 + 商家模式，和唯品会的供应商模式可以对应。最大的缺口是没有客诉工单和质检数据，所以我用『评价星级 + 评价原文』来还原客诉：写了葡语关键词规则打 8 类标签，然后做了两轮抽样复核：先按标签分层抽 140 条看准确率，再随机抽 200 条盲评看召回率（判定都是借助大模型逐条阅读葡语原文完成的，每条附了中文释义，方便人工抽查）。结果是准确率 97%、召回率 75%，规则偏保守，会低估品质客诉率，但 2017 和 2018 年漏标的比例相近，所以趋势结论不受影响。数仓分四层，DWS 只存计数，比率最后再算，避免比率再平均。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为什么不用差评率做北极星？因为差评率被物流主导：2018 年 3 月物流出问题，差评率冲到 22.8%，4 月物流恢复又立刻回落，这期间品控什么都没做。让品控背一个自己控制不了的指标，没法考核也没法复盘。所以北极星选品质客诉率，只统计商品本身出问题的订单。往下按两个方向拆：按问题类型拆是 What，每类问题对应不同的责任方；按品控链路拆是 Where，结果指标出问题时顺着链路找过程指标。虚线框是公开数据里没有、但唯品会一定有的质检和退货数据，我先把口径定义好了，接入就能上线。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口径统一是 JD 第一条里特别强调的。我定了 6 条约定，每条后面都有一个真实踩过的坑。比如第一条，按下单月归属：业务同学如果用『3 月收到的投诉 ÷ 3 月签收的订单』，算出来是 5.25%，看板是 4.97%，两个数都没错，但回答的问题不一样。下面的时间线是口径本身的迭代记录，每个版本改了什么、为什么改，都记在字典的『口径变更记录』里。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看板我用 HTML 做了一个能直接打开的交互版，同时写了 Power BI 和 Tableau 的搭建指南，包括数据模型和 DAX 度量值。设计上我最在意两件事：一是第一屏 5 秒内回答『这个月品质好不好』，所以北极星单独放大、带状态和环比；二是数字在任何筛选组合下都对，所以底表只存计数，筛选之后再相除。还有一个取舍是不做双轴图，因为双轴的对齐是任意的，很容易让人看出不存在的相关性。另外我做了一个 Excel 商家品质月报模板，用 SUMIFS、INDEX/MATCH 和数据透视表实现，改参数就能自动出名单，和数仓评分卡的结果完全一致。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专题分析的出发点是一个反直觉的现象：2018 年差评率在降，业务可能觉得体验在变好。但我按品质问题拆开看，发现品质客诉率反而在升。分析按六步走，第四步是重点，找到了三个瓶颈；第五步我专门验证了三个直觉上成立、但数据不支持的假设。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左边是品质客诉率的 p 控制图，这是质量管理里判断"异常还是波动"的标准工具。我用 2017 年做基线，12 个月全部在控制限内，说明基线是稳定的；2018 年有 3 个月越出上控制限，而且从 2017 年 10 月开始连续 11 个月高于中心线，触发"连续 9 点在同侧"的判异准则，说明过程均值已经偏移了。两年对比的 z 检验 z = 5.05，p 小于万分之一。右边两张是差评率和准时率，形状几乎是镜像：物流出问题时准时率跌到 81%，差评率冲到 22.8%，所以差评率下降主要是物流改善带来的。最后一个月回落到 4.4%，因为评价还在回收，我不会解读成好转。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这张图把每个季度的 1-2 星差评按原因拆开。蓝绿色是品质类，2017 年一直在 20% 出头，2018 年二季度开始跳到 34%-35%；橙色的履约类在 2018 年一季度物流危机时最高。换句话说，物流问题解决以后，剩下的差评里，品质问题越来越突出，这正是品控团队的工作范围。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品质客诉率上升 0.69 个百分点，第一反应要问：是不是 2018 年卖了更多高客诉的品类？我用因素分解把变化拆成结构效应和组内效应，结构效应几乎为 0，上升全部来自品类内部变差。再看问题类型：货不对板涨了三分之一，假货将近翻倍，质量缺陷基本不变。这说明问题更多出在『描述与实物不符、正品管控』，而不是生产质量本身。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第一个瓶颈在订单结构。单件订单品质客诉率只有 3.5%，多件订单是 14% 到 27%，多商家订单最高，而且几乎都是少件漏发。我还验证了一件事：这些少件投诉，99.8% 提交时订单已经显示签收，所以不是『还没收齐就着急评价』，而是用户在签收状态下确实缺件——要么漏发，要么分包裹没有同步送达、也没告诉用户。两种情况都指向出库环节。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第二个瓶颈是商家。我做了一个商家品质分，四个分项按分位数打分再加权。风险分层时最关键的是小样本问题：一个商家 10 单里 1 单客诉就是 10%，看起来是平台的两倍，但很可能只是运气。所以我用了贝叶斯平滑，给每个商家先加 50 单平台平均水平的虚拟订单。不平滑会圈出 302 家，平滑加门槛后只剩 10 家，这 10 家只占 3.6% 的订单，却贡献了 12.5% 的品质客诉，客诉率是正常商家的 4 倍多。模型靠不靠谱我做了两个检验：一是 Wilson 置信区间，10 家的区间下限全部高于平台；二是回测，用前 6 个月分层、看后 6 个月，三个窗口里高风险商家下一期客诉率平均仍是平台的 2.2 倍，需关注 1.5 倍，正常 0.9 倍，排序每次都成立。同时能看到均值回归，高风险商家会从 13%-15% 回落到 10%-14%，所以评估整改效果一定要有对照组。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第三个瓶颈在品类和商品。办公家具品质客诉率 10.8%，是平台的两倍多，主要是少配件和质量缺陷，大件商品普遍如此。假货投诉集中在电脑配件和钟表，这和唯品会『正品保障』的定位直接相关。还有一个很实用的发现：商品信息缺失——没有品类、没有图片描述——的商品，假货投诉率是信息完整商品的 9 倍，这可以直接变成上架准入的卡口。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Olist 以家居为主，穿戴类只占 9%，但唯品会穿戴类占 GMV 的 75%，所以我专门把穿戴类拿出来看。穿戴类品质客诉率从 3.7% 升到 5.1%，涨幅比平台大，检验是显著的；假货投诉从每万单 10 单涨到 54 单。如果按唯品会的品类结构重新加权，平台的假货投诉会从每万单 22 单翻倍到 45 单左右，所以在唯品会的语境下，"正品"和"货不对板"应该是品控的第一优先级。外部数据也能印证：国抽里电商平台羽绒服的不合格批次，大部分是纤维含量和标称不符，这就是货不对板。需要说明的是 Olist 的服装样本很小，这一页的结论是方向性的。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分析里我也验证了三个直觉上很合理的假设，数据都不支持。新商家并不比老商家差；送晚了的订单品质客诉率反而更低，因为用户主要在骂慢；首单体验对复购的影响在这份数据里看不出来，因为 Olist 整体复购只有 4%。第三个我标的是『证据不足』而不是『不成立』，这个区别很重要，唯品会有会员体系和复购数据，可以真正回答这个问题。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最后是建议和测算。A 针对多件订单：出库时称重或扫码复核，分包裹时主动告知用户，假设少件客诉减半，能降 0.72 个百分点，是收益最大的一项。B 针对高风险和需关注商家整改，假设降 30%。C 针对 3C 和钟表的假货与货不对板做正品专项。三项叠加时我按『一个客诉单被任一举措避免的概率』计算，避免重复计算，合计能从 5.00% 降到 3.82%，达到 4% 的目标线。这些假设比例是可以和业务一起校准的参数。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这一页把商家风险分层落到质检动作上，而且是样本外检验：用前 6 个月打分，在后 6 个月的订单上看效果，避免"用答案检验答案"。两类问题差别很大：少件漏发靠订单结构就能精准锁定，只复核占 10% 的多件订单，就能覆盖 75% 的少件问题；缺陷、货不对板、假货更分散，用商家乘以品类的风险分，同样 10% 的抽检量能覆盖约 16%，是随机抽检的 1.6 倍左右。这个提升不算大，因为公开数据里只有商家和品类两个特征；唯品会有供应商历史质检不合格率、品牌、价格带这些特征，风险分会准得多。检出率这个参数在两种方案里会约掉，所以倍数这个结论不依赖检出率的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部分我把品控业务可能提的临时需求整理成 19 道题。我认为取数最难的不是语法，而是把业务的一句话翻译成口径，所以每道题都从业务方原话出发，先写口径和假设。右边是四个最典型的错误：比如对账时把商品表和支付表这两张一对多的表直接 JOIN，对不上的订单会从 249 单虚高到 1.2 万单；用 customer_id 算复购率会得到 0，因为它是一单一个的。所有答案都实际跑过，其中 4 道和看板上的数字逐一对过账。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JD 里提到严谨细致、对数据准确性负责。我的做法是把校验做成脚本，每次跑数自动执行 18 项检查，任何一项失败就不出数；已知的脏数据不悄悄删掉，而是公开披露并写明处理方式。右边是这个项目的局限，我觉得主动讲清楚比被问到更好：评价不等于客诉，随机盲评显示规则准确率 97%、召回率 75%，会漏掉约四分之一的品质问题，所以绝对值偏低，但两年漏标比例相近，趋势结论成立；没有质检数据；阈值要用唯品会自己的数据重估。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最后说一下如果有机会入职，我会先做的三件事：先对齐口径，再接入质检和退货数据，然后挑一个专题跑完整个闭环。所有材料都可以一键复现，谢谢。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两比例 z 检验：用合并比例算标准误，z 大于 1.96 就是 5% 水平显著。p 控制图用 2017 年做阶段Ⅰ基线，控制限是 p0 ± 3 倍根号 p0(1-p0)/n，n 是每月签收单，所以量大的月份控制限更窄。Wilson 区间在小样本时比正态近似更准，适合商家这种样本量差别很大的场景。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之前的 140 条复核是按规则打出的标签分层抽样，只能说明打上的准不准；这次随机抽样盲评，才能同时算召回率。规则准确率 97%，但召回率 75%，是偏保守的，品质客诉率的绝对值被低估了约四分之一。关键是两年的召回率接近，所以趋势和结构性的结论都不受影响。判定是借助大模型逐条读葡语原文完成的，每条都写了中文释义，方便人工抽查。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回测的做法：用一个 6 个月窗口给商家分层，再看这些商家在下一个 6 个月的品质客诉率。三个窗口里高风险商家分别是平台的 2.1、2.6、1.9 倍，需关注 1.2 到 1.6 倍，正常 0.9 倍左右，排序每次都成立，说明模型有预测力。高风险每期只有 3 到 4 家，样本小，所以我看的是三个窗口合计。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三档情景里，即使悲观情况也能降到 4.32%，乐观能到 3.34%；中性情景 3.82% 达到 4% 的目标。敏感性上 A 影响最大，所以上线后最该先验证的就是多件订单复核的真实效果，建议先在部分仓库试点，用双重差分评估。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B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电商品控数据分析项目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差评在降，品质客诉在升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E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品控指标体系 · 经营看板 · 专题分析 · SQL 取数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99,441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真实订单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98,673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条用户评价（去重后）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3,095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家商家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4754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个品类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应聘岗位：唯品会 品控数据分析实习生　｜　数据：Olist Brazilian E-Commerce Public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JD 的四项职责，做了四件可交付的东西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所有数字都从同一张数仓宽表 dwd_qc_order 取数，跑数后自动执行 18 项数据质量校验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19456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品控指标体系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7249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北极星「品质客诉率」+ 31 个指标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2724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指标字典 Excel：定义 / 公式 / 口径 SQL / 基准值 / 预警线；6 条口径约定、5 个口径版本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53912" y="192024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194560"/>
            <a:ext cx="384048" cy="384048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823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219456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品控经营看板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27249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页交互看板 + BI 搭建指南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312724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/ 商家风险 / 指标口径；统一筛选、环比、状态标识；附 Power BI DAX 与 Tableau 计算字段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43484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专题分析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6519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3 个品控瓶颈，测算治理空间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36752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差评原因结构、因素分解、订单结构、商家分层、品类风险；3 项举措可把品质客诉率从 5.00% 降到 3.82%（情景区间 3.34%–4.32%）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53912" y="416052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4434840"/>
            <a:ext cx="384048" cy="384048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443484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取数题库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28232" y="496519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道业务取数题，全部实跑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28232" y="5367528"/>
            <a:ext cx="4873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业务原话 → 口径 → SQL → 自检 → 错误写法对比；4 道题与看板数字逐一对账一致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真实公开数据 + 四层数仓 + 评价文本打标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公开数据里没有「客诉工单」，用评价星级 + 评价原文打标来还原品控问题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305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94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贴源 8 张表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行数与源文件逐一对账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364992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21305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5694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 + 宽表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评价去重、时间倒挂打标、主品类归属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181344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1305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5694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商家/品类×月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只存计数，不存比率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14232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997696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26296" y="21305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5694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 / 评分卡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KPI、商家品质分、品类排行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唯品会品控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/ 品牌方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Olist 商家（3,095 家）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客诉 / 售后工单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评价星级 + 葡语评价原文打标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供应商发货时效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shipping_limit_date 发货 SLA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入仓质检 / 退货原因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公开数据没有 → 定义为待接入指标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446520" y="3749040"/>
            <a:ext cx="5193792" cy="1920240"/>
          </a:xfrm>
          <a:prstGeom prst="roundRect">
            <a:avLst>
              <a:gd name="adj" fmla="val 3810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20840" y="3913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评价文本 → 8 类问题标签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431596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葡语关键词规则：假货 / 质量缺陷 / 货不对板 / 少件漏发 / 包装破损 / 未收货 / 延迟 / 服务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 200 条盲评（大模型逐条读原文判定）：准确率 97.4%、召回率 74.5%，规则偏保守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每次跑数自动执行 18 项校验（跨层对账、主键唯一、分子 ≤ 分母）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职责① 指标体系建设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北极星选「品质客诉率」，差评率只做护栏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品质客诉率 = 签收订单中，因商品本身问题给出 1-3 星并描述该问题的订单占比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92728" y="18288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4168" y="18836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北极星　品质客诉率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84168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C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 5.00%　目标 ≤ 4.0%　预警 &gt; 5.5%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结果指标 · 按问题类型拆（What）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少件/漏发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1.90%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029968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39696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质量缺陷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1.59%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511296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21024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货不对板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21024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1.60%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992624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02352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02352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22/万单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73952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包装破损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0.12%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138160" y="3246120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护栏：差评率 / 平均分 / 差评品质原因占比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品控不直接负责，但必须一起看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过程指标 · 按品控链路拆（Where）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791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商品准入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138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动销商品信息完整率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高风险品类订单占比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4663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47872" y="4791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商家管理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47872" y="5138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发货超时率 · 商家品质分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高风险商家数 / 客诉贡献度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1344" y="4663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64224" y="4791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仓配履约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64224" y="5138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准时签收率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多件订单少件率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97696" y="4663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97696" y="4663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BFC2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180576" y="4791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待接入（内部数据）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80576" y="5138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入仓质检合格率 · 问题商品拦截率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品质退货率 · 客诉响应时长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职责① 指标体系建设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口径统一：6 条约定，写进字典、落到看板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同一个指标，看板、周报、专题分析、临时取数必须是同一个数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029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按下单月归属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441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分子分母是同一批订单；"本月投诉 ÷ 本月签收"会错配（3 月：4.97% vs 5.25%）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029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签收口径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41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delivered 且有签收时间（8 单状态已签收但没有签收时间）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13648" y="2029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一单一评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441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547 单有多条评价，保留用户最后一次提交的评价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5112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品质客诉只认 1-3 星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92277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星里的"sem defeito（没有瑕疵）"会被关键词误命中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3355848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35112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问题类型可多选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92277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各类发生率之和 &gt; 品质客诉率，不能相加；要互斥结构时用主标签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355848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5112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比率最后再算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92277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底表只存计数；各品类客诉率的简单平均 ≠ 平台客诉率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口径迭代记录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B8BF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54498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E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285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577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关键词命中即算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807208" y="54498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E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63240" y="5285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063240" y="5577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 1-3 星 + 剔除否定句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47488" y="54498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E6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0" y="5285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5577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包装破损从缺陷中剥离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87768" y="544982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E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43800" y="5285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543800" y="5577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抽样复核 140 条，修 8 条规则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528048" y="5449824"/>
            <a:ext cx="164592" cy="164592"/>
          </a:xfrm>
          <a:prstGeom prst="ellipse">
            <a:avLst/>
          </a:prstGeom>
          <a:solidFill>
            <a:srgbClr val="0E6E6E"/>
          </a:solidFill>
          <a:ln w="19050">
            <a:solidFill>
              <a:srgbClr val="0E6E6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84080" y="5285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784080" y="5577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口径冻结，四端同源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职责② 可视化看板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经营看板：先回答「好不好」，再回答「在哪里」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 → 分 → 明细；筛选器一行作用于全页；状态用圆点 + 文字，不只靠颜色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Image 0" descr="/home/user/intern-project/docs/images/dashboard_overview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040880" cy="42452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1828800"/>
            <a:ext cx="7040880" cy="4245236"/>
          </a:xfrm>
          <a:prstGeom prst="rect">
            <a:avLst/>
          </a:prstGeom>
          <a:ln w="9525">
            <a:solidFill>
              <a:srgbClr val="D5DA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1828800"/>
            <a:ext cx="3733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谁看什么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157984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品控负责人看北极星 + 环比；类目运营看类目排行和品类表；商家管理看风险榜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907792"/>
            <a:ext cx="3733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不做双轴图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3236976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差评率与品质客诉率量纲不同，双轴会制造假相关，改成各自独立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986784"/>
            <a:ext cx="3733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比率筛选后再算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4315968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底表只存计数，任意筛选组合下总计行都正确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5065776"/>
            <a:ext cx="3733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口径可查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5394960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第三页直接展示指标字典，业务方不用再来问"这个数怎么算的"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专题分析：差评在降，为什么品控反而要警惕？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假设驱动：先看大盘和结构，再拆四个方向找瓶颈，最后证伪并测算治理空间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大盘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差评率与品质客诉率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走势是否一致？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2316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差评里品质问题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占比怎么变？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上升来自结构变化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还是同类恶化？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订单结构 · 商家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 · 商品信息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证伪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新商家？晚到损坏？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影响复购？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21240" y="21488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0412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三项举措能降到多少？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9E1"/>
          </a:solidFill>
          <a:ln w="12700">
            <a:solidFill>
              <a:srgbClr val="FBE9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919472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年物流改善让差评率从 22.8% 降到 10.9%，但品质客诉率从 2017 年的 4.31% 升到 5.00%，差评里品质原因的占比从约 22% 升到 35%。上升全部来自同类订单内部变差；三个瓶颈是多件订单少件漏发、少数高风险商家、3C / 钟表的假货与货不对板。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发现①　差评率跟着物流走，品质客诉率越出了控制限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左：p 控制图（2017 年为基线，控制限 ±3σ 随签收量变化）；右：差评率与准时率。量纲不同，分开画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7665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87044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年 2 月、5 月、6 月越出上控制限；自 2017 年 10 月起连续 11 个月高于中心线（判异准则：≥ 9 点同侧）→ 过程均值发生了持续偏移，不是随机波动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7498080" y="1783080"/>
          <a:ext cx="4160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Chart 2" descr=""/>
          <p:cNvGraphicFramePr/>
          <p:nvPr/>
        </p:nvGraphicFramePr>
        <p:xfrm>
          <a:off x="7498080" y="3886200"/>
          <a:ext cx="4160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发现②　差评里，品质问题的占比从 22% 升到 35%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星差评按主标签归类（互斥口径）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503920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22% → 35%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523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差评中品质类占比（2017Q1 → 2018Q3）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3246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33% → 24%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履约类占比（物流危机的 2018Q1 → 2018Q3）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4617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物流问题解决之后，品质问题成为差评里品控能管、也最该管的部分。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发现③　上升不是「卖了更多高风险品类」，而是同类订单在变差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品质客诉率 2017 年 4.31% → 2018 年 1-8 月 5.00%（+0.69pp）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按一级类目做因素分解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结构效应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−0.01pp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品类占比变化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组内效应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+0.74pp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品类自身客诉率变化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交互项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−0.04pp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组内贡献最大：3C 数码、钟表礼品、家居家纺、母婴玩具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846320" y="1783080"/>
          <a:ext cx="6812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937760" y="5349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增幅最大：货不对板 +33%，假货 +83%；质量缺陷基本持平（+5%）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瓶颈①　多件订单：10% 的订单贡献了 34% 的品质客诉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几乎全部来自少件/漏发；99.8% 的少件投诉提交时订单已显示签收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01000" y="1828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432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多件订单占签收单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971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贡献的品质客诉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114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718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贡献的少件/漏发客诉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多件订单品质客诉率 15.8%，是单件订单（3.5%）的 4.6 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瓶颈②　3% 的高风险商家，贡献了 12% 的品质客诉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6 个月签收 ≥ 30 单的 299 家商家（覆盖 68% 订单）；平滑客诉率 ≥ 平台 2 倍且客诉 ≥ 3 单 = 高风险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01000" y="17830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901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评分模型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2402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品质分 = 客诉率 50% + 差评率 20% + 发货超时率 15% + 延迟签收率 15%（分位数打分）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平滑客诉率 =（客诉 + 50 × 平台）÷（签收 + 50）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840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18.6%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4439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高风险商家平均品质客诉率（正常商家为 4.1%）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892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不平滑会圈出 302 家；平滑后的 10 家全部通过 Wilson 区间检验（显著高于平台）。回测：前 6 个月判为高风险的商家，下 6 个月客诉率仍是平台的 2.2 倍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瓶颈③　大件家具少配件，3C/钟表假货高，信息缺失商品风险大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 ≥ 300 单的品类中，品质客诉率最高的 10 个（平台 4.7%）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03720" y="1783080"/>
            <a:ext cx="4739335" cy="1280160"/>
          </a:xfrm>
          <a:prstGeom prst="roundRect">
            <a:avLst>
              <a:gd name="adj" fmla="val 5714"/>
            </a:avLst>
          </a:prstGeom>
          <a:solidFill>
            <a:srgbClr val="FBE9E1"/>
          </a:solidFill>
          <a:ln w="12700">
            <a:solidFill>
              <a:srgbClr val="FBE9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1911096"/>
            <a:ext cx="4282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办公家具 10.8%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286000"/>
            <a:ext cx="4282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4.7% 的 2.3 倍：少件/漏发 5.8%（缺螺丝、配件），质量缺陷 4.4%；单件订单中 ≥15kg 大件的品质客诉率 6.3%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3200400"/>
            <a:ext cx="4739335" cy="1280160"/>
          </a:xfrm>
          <a:prstGeom prst="roundRect">
            <a:avLst>
              <a:gd name="adj" fmla="val 571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3328416"/>
            <a:ext cx="4282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假货集中在 3C / 钟表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703320"/>
            <a:ext cx="4282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电脑配件 66、钟表礼品 53 单/万单，平台 18 单/万单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03720" y="4617720"/>
            <a:ext cx="4739335" cy="1280160"/>
          </a:xfrm>
          <a:prstGeom prst="roundRect">
            <a:avLst>
              <a:gd name="adj" fmla="val 5714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0" y="4745736"/>
            <a:ext cx="4282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信息缺失 = 高风险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5120640"/>
            <a:ext cx="4282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缺品类/图片/描述的商品，假货投诉率 1.38%，是信息完整商品的约 9 倍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放到唯品会的品类结构下：穿戴类问题涨得更快，假货更集中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唯品会 2024 年穿戴类 GMV 占比 75%，Olist 仅 9%；按唯品会结构重新加权后，假货风险会被放大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3977640" y="178308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498080" y="1783080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3.7% → 5.1%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38658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穿戴类品质客诉率（z = 3.01，p = 0.003，显著）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926080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→ 45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352958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每万单假货投诉：Olist 结构 → 按唯品会 75% 穿戴类重新加权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498080" y="4114800"/>
            <a:ext cx="4144975" cy="1783080"/>
          </a:xfrm>
          <a:prstGeom prst="roundRect">
            <a:avLst>
              <a:gd name="adj" fmla="val 4103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80960" y="42245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外部参考：国家监督抽查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544568"/>
            <a:ext cx="3779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年在 15 家电商平台抽查羽绒服 185 批次，26 批次不合格（14.1%），其中 19 批次是纤维含量与标称不符——本质就是"货不对板"。服饰类入仓质检应把成分 / 标签一致性列为必检项。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外部数据来源：市场监管总局抽查通报（经新闻转载）；唯品会品类结构来自 2024 年财报报道；见 data/external/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三个直觉上成立、但数据不支持的假设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证伪同样是结论：避免把资源投到错误的方向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新入驻商家品质更差？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5E6B72"/>
          </a:solidFill>
          <a:ln w="12700">
            <a:solidFill>
              <a:srgbClr val="5E6B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不成立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 &lt; 3 个月 4.9%，12 个月以上 5.4%，新商家并不更差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准入审核不是主要短板，重点应放在存量商家的持续监控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送晚了导致更多损坏？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26280" y="2834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5E6B72"/>
          </a:solidFill>
          <a:ln w="12700">
            <a:solidFill>
              <a:srgbClr val="5E6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不成立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延迟签收订单品质客诉率 3.0%，准时订单 4.8%；包装破损率几乎一样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434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延迟订单的差评主要在抱怨"慢"，物流时效和品质问题要分开治理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首单遇到品质问题会流失？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75320" y="2834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首单品质客诉用户复购率 3.9%，首单 5 星 4.3%，整体复购只有 4% 左右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434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Olist 平台整体复购很低，这个问题需要唯品会的会员数据才能回答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三项举措，可把品质客诉率从 5.00% 降到 3.82%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2018 年 1-8 月签收订单为基线；多项举措叠加时按 1 − Π(1 − p) 计算，避免重复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6035040" cy="0"/>
          </a:xfrm>
          <a:prstGeom prst="line">
            <a:avLst/>
          </a:prstGeom>
          <a:noFill/>
          <a:ln w="12700">
            <a:solidFill>
              <a:srgbClr val="B8BF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4880" y="2514422"/>
            <a:ext cx="731520" cy="2971978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" y="216695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5.00%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72640" y="2514422"/>
            <a:ext cx="731520" cy="426810"/>
          </a:xfrm>
          <a:prstGeom prst="rect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98320" y="216695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−0.72pp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9832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941232"/>
            <a:ext cx="731520" cy="184965"/>
          </a:xfrm>
          <a:prstGeom prst="rect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2593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−0.31pp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8160" y="3126196"/>
            <a:ext cx="731520" cy="92007"/>
          </a:xfrm>
          <a:prstGeom prst="rect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3840" y="27787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−0.15pp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5384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55920" y="3218203"/>
            <a:ext cx="731520" cy="2268197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81600" y="2870731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3.82%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816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治理后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三档情景：悲观 4.32% / 中性 3.82% / 乐观 3.34%；最敏感的是 A（区间宽 0.54pp）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783080"/>
            <a:ext cx="4693615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965960"/>
            <a:ext cx="384048" cy="384048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1947672"/>
            <a:ext cx="3779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多件订单出库复核 + 分包裹提醒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662672" y="2276856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负责：仓配 / 商家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2514600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测算假设：多件订单少件客诉 −50%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662672" y="2761488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跟踪指标：多件订单少件率 14.4% → ≤ 7%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49440" y="3200400"/>
            <a:ext cx="4693615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3383280"/>
            <a:ext cx="384048" cy="384048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62672" y="3364992"/>
            <a:ext cx="3779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/ 需关注商家整改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662672" y="3694176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负责：商家管理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662672" y="3931920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测算假设：该类商家品质客诉 −30%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4178808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跟踪指标：高风险商家数、整改闭环率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49440" y="4617720"/>
            <a:ext cx="4693615" cy="1325880"/>
          </a:xfrm>
          <a:prstGeom prst="roundRect">
            <a:avLst>
              <a:gd name="adj" fmla="val 5517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4800600"/>
            <a:ext cx="384048" cy="384048"/>
          </a:xfrm>
          <a:prstGeom prst="ellipse">
            <a:avLst/>
          </a:prstGeom>
          <a:solidFill>
            <a:srgbClr val="E0662F"/>
          </a:solidFill>
          <a:ln w="12700">
            <a:solidFill>
              <a:srgbClr val="E0662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662672" y="4782312"/>
            <a:ext cx="3779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 数码 / 钟表礼品 正品与描述专项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662672" y="5111496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负责：品控 + 类目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662672" y="5349240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测算假设：两类目假货、货不对板客诉 −30%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662672" y="5596128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跟踪指标：假货投诉率（每万单）、货不对板率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职责③ 业务专题分析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质检资源按风险分配：少件靠订单结构锁定，缺陷和假货靠风险打分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样本外检验：用 2017-09 ~ 2018-02 的数据打分，在 2018-03 ~ 2018-08 的 39,153 个签收订单上检验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498080" y="1783080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38658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出库复核只盯多件订单（占 10%），就能覆盖的少件 / 漏发问题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926080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1.54 倍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52958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入仓抽检 10% 时，按"商家 × 品类"风险分覆盖 15.8% 的缺陷 / 货不对板 / 假货，随机抽检为 10.3%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114800"/>
            <a:ext cx="4144975" cy="1783080"/>
          </a:xfrm>
          <a:prstGeom prst="roundRect">
            <a:avLst>
              <a:gd name="adj" fmla="val 4103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42245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外部先验支持分层抽检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544568"/>
            <a:ext cx="3779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年国抽：大型企业0.8%；中型企业2.2%；小型企业13.2%；流通领域 19.6% vs 生产领域 6.7%。新 / 小供应商与流通环节应提高抽检比例；真实场景可加入供应商历史质检结果，风险分会更准。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职责④ 取数与 SQL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取数：19 道业务题，从「业务语言」到能跑的 SQL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每题：业务原话 → 口径拆解 → 默认假设 → 分层 SQL → 自检 → 错误写法对比 → 追问；全部在 MySQL 8.0 实跑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675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265176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代表题目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月度概览、评价去重、差评率 TOP10、明细导出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条件聚合、ROW_NUMBER 去重、一对多先去重、半开区间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品质客诉率、类目内 TOP3、连续 3 月上升、中位数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DENSE_RANK、LAG + 月份连续、分位数、递归 CTE 补 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首单复购、帕累托、高风险商家、对账、连续 3 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customer_unique_id、累计窗口、贝叶斯平滑、Gaps &amp; Islands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 4.97% vs 业务自己算的数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cohort 口径 vs 事件时间口径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498080" y="192024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错误写法 vs 正确写法（实跑结果）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2377440"/>
            <a:ext cx="4144975" cy="749808"/>
          </a:xfrm>
          <a:prstGeom prst="roundRect">
            <a:avLst>
              <a:gd name="adj" fmla="val 9756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246888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两张一对多表直接 JOIN 对账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779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错：12,494 单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2779776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对：249 单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98080" y="3246120"/>
            <a:ext cx="4144975" cy="749808"/>
          </a:xfrm>
          <a:prstGeom prst="roundRect">
            <a:avLst>
              <a:gd name="adj" fmla="val 9756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333756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customer_id 算复购率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3648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错：0%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3648456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对：2.8%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98080" y="4114800"/>
            <a:ext cx="4144975" cy="749808"/>
          </a:xfrm>
          <a:prstGeom prst="roundRect">
            <a:avLst>
              <a:gd name="adj" fmla="val 9756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80960" y="420624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多件订单 JOIN 商品行后计数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4517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错：12,790 单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4517136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对：5,249 单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98080" y="4983480"/>
            <a:ext cx="4144975" cy="749808"/>
          </a:xfrm>
          <a:prstGeom prst="roundRect">
            <a:avLst>
              <a:gd name="adj" fmla="val 9756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0" y="507492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口径：投诉月 ÷ 签收月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5385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错：5.25%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418320" y="5385816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对：4.97%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983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道题的结果与数仓、看板数字逐一对账一致（月度品质客诉率、准时率、高风险商家名单、3 月口径）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对数字负责：校验做在前面，局限说在前面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4F0EF"/>
          </a:solidFill>
          <a:ln w="12700">
            <a:solidFill>
              <a:srgbClr val="E4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数据质量：18 项自动校验全部通过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402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完整性：ODS → DWD 不丢单、不重复；打标覆盖全部评价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唯一性：宽表一单一行、评价一单一条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一致性：宽表 = DWS = ADS = 看板，三层数字相等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合理性：比率在 [0,1]、分子 ≤ 分母、品质客诉只来自 1-3 星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已知问题公开披露：189 单时间倒挂、547 单重复评价、249 单金额对不上……各自写明处理方式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0280"/>
            <a:ext cx="5379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打标偏保守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60320"/>
            <a:ext cx="5379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随机盲评 200 条：准确率 97%、召回率 75%，品质客诉率被低估约 1/4；两年漏标比例相近，趋势不受影响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54680"/>
            <a:ext cx="5379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没有质检数据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474720"/>
            <a:ext cx="5379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入仓质检、抽检、拦截率已定义口径，待接入内部数据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069080"/>
            <a:ext cx="5379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巴西市场 ≠ 唯品会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389120"/>
            <a:ext cx="5379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方法可迁移，阈值（目标 4%、平滑 m=50）需用唯品会数据重估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983480"/>
            <a:ext cx="5379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最近月份右删失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5303520"/>
            <a:ext cx="5379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评价与签收仍在回收，最后 1-2 个月的指标偏乐观，汇报时标注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如果入职，我会先做的三件事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对齐口径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把品质客诉率、品质退货率与现有指标字典对齐，确认时间归属和去重规则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502920" cy="5029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接入质检与退货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补齐入仓质检合格率、问题商品拦截率，让结果指标和过程指标连起来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502920" cy="502920"/>
          </a:xfrm>
          <a:prstGeom prst="ellipse">
            <a:avLst/>
          </a:prstGeom>
          <a:solidFill>
            <a:srgbClr val="0E6E6E"/>
          </a:solidFill>
          <a:ln w="12700">
            <a:solidFill>
              <a:srgbClr val="0E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先做一个专题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从多件订单少件率或高风险供应商切入，做完一轮"发现 → 举措 → 复盘"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项目材料：指标字典与商家品质月报模板（Excel）· 交互看板（HTML）· 专题分析报告（Word）· SQL 题库（19 题）· 全部代码与数据可一键复现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FB3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附录①　统计检验：品质客诉率的上升不是随机波动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面试追问"这个差异显著吗"时使用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120640"/>
                <a:gridCol w="23134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2017 vs 2018 品质客诉率（两比例 z 检验）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 = 5.05，p &lt; 0.0001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显著上升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置信区间（Wilson）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2017：4.12% – 4.50%；2018：4.82% – 5.19%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区间不重叠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货不对板率 / 假货投诉率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 = 5.19 / z = 3.51（p = 0.0005）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均显著上升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控制图（阶段Ⅰ 2017 基线）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阶段Ⅰ 12 个月全部受控；2018 年 3 个月越出 UCL；连续 11 点高于中心线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过程均值偏移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穿戴类 2017 vs 2018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 = 3.01，p = 0.003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显著上升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高风险商家（Wilson 下限 &gt; 平台）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/ 10 家显著；不平滑时 ≥ 2 倍的 28 家参评商家中 4 家不显著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平滑后名单可信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附录②　评价打标的准确率与召回率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 200 条（已签收 · 1-3 星 · 有文字）盲评；由大模型逐条读葡语原文判定，附中文释义供人工抽查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金标准条数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质量缺陷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货不对板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少件/漏发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包装破损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合计（任一品质问题）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858000" y="1828800"/>
            <a:ext cx="4785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 vs 72%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432304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/ 2018 年召回率相近 → 两年对比不受漏标影响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017520"/>
            <a:ext cx="4785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06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1.31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3621024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校正系数 = 准确率 ÷ 召回率；2018 年品质客诉率真实值约 6.5%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4297680"/>
            <a:ext cx="47850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漏标主要是货不对板的多样说法（「寄来的和买的不像」「颜色型号被换」）和部分到货；下一步用这 200 条作为开发集迭代 v1.1，再抽一批新样本做测试集，避免在评估集上过拟合。逐条明细见 outputs/qa/tag_gold_set.csv。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附录③　商家风险分层回测：用前 6 个月的分层，预测后 6 个月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排序在三个窗口里都成立：高风险 &gt; 需关注 &gt; 正常；同时能看到均值回归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818120" y="1828800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8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2.2×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32304"/>
            <a:ext cx="3824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高风险（3 个窗口合计 11 家次）下一期仍为平台倍数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971800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1.65×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575304"/>
            <a:ext cx="3824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不平滑的规则圈出 83 家次，下一期倍数更低：平滑用更少的名单换来更高的命中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160520"/>
            <a:ext cx="38249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均值回归：3 个窗口中有 2 个，高风险商家下一期客诉率明显回落（13.3% → 9.7%，15.3% → 10.0%）。所以评估整改效果必须设对照组，否则会把自然回落误判为整改成果。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ellipse">
            <a:avLst/>
          </a:prstGeom>
          <a:solidFill>
            <a:srgbClr val="B8BFC2"/>
          </a:solidFill>
          <a:ln w="12700">
            <a:solidFill>
              <a:srgbClr val="B8BFC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附录④　治理测算的情景与敏感性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各举措降幅是假设参数；给出三档情景，并逐个变动参数看影响（其余参数取中性值）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数据：Olist 巴西电商公开数据（脱敏真实订单，2017.01 – 2018.08）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377440"/>
                <a:gridCol w="274320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多件订单少件客诉降幅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风险商家客诉降幅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3C/钟表假货与货不对板降幅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治理后品质客诉率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210312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单因素敏感性（其余取中性）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悲观取值时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乐观取值时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影响幅度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多件订单少件客诉降幅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风险商家客诉降幅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3.96%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3C/钟表假货与货不对板降幅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3.74%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差评在降，品质客诉在升：电商品控数据分析项目</dc:title>
  <dc:subject>PptxGenJS Presentation</dc:subject>
  <dc:creator>品控数据分析项目</dc:creator>
  <cp:lastModifiedBy>品控数据分析项目</cp:lastModifiedBy>
  <cp:revision>1</cp:revision>
  <dcterms:created xsi:type="dcterms:W3CDTF">2026-09-26T15:59:01Z</dcterms:created>
  <dcterms:modified xsi:type="dcterms:W3CDTF">2026-09-26T15:59:01Z</dcterms:modified>
</cp:coreProperties>
</file>