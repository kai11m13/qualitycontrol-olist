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品质客诉率</c:v>
                </c:pt>
              </c:strCache>
            </c:strRef>
          </c:tx>
          <c:spPr>
            <a:solidFill>
              <a:srgbClr val="E1006C"/>
            </a:solidFill>
            <a:ln w="25400" cap="flat">
              <a:solidFill>
                <a:srgbClr val="E100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1006C"/>
              </a:solidFill>
              <a:ln w="9525" cap="flat">
                <a:solidFill>
                  <a:srgbClr val="E100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2017-01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2018-01</c:v>
                  </c:pt>
                  <c:pt idx="13">
                    <c:v>02</c:v>
                  </c:pt>
                  <c:pt idx="14">
                    <c:v>03</c:v>
                  </c:pt>
                  <c:pt idx="15">
                    <c:v>04</c:v>
                  </c:pt>
                  <c:pt idx="16">
                    <c:v>05</c:v>
                  </c:pt>
                  <c:pt idx="17">
                    <c:v>06</c:v>
                  </c:pt>
                  <c:pt idx="18">
                    <c:v>07</c:v>
                  </c:pt>
                  <c:pt idx="19">
                    <c:v>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0.048</c:v>
                </c:pt>
                <c:pt idx="1">
                  <c:v>0.041137</c:v>
                </c:pt>
                <c:pt idx="2">
                  <c:v>0.046347</c:v>
                </c:pt>
                <c:pt idx="3">
                  <c:v>0.034737</c:v>
                </c:pt>
                <c:pt idx="4">
                  <c:v>0.037518</c:v>
                </c:pt>
                <c:pt idx="5">
                  <c:v>0.045933</c:v>
                </c:pt>
                <c:pt idx="6">
                  <c:v>0.041064</c:v>
                </c:pt>
                <c:pt idx="7">
                  <c:v>0.039351</c:v>
                </c:pt>
                <c:pt idx="8">
                  <c:v>0.040723</c:v>
                </c:pt>
                <c:pt idx="9">
                  <c:v>0.046226</c:v>
                </c:pt>
                <c:pt idx="10">
                  <c:v>0.045554</c:v>
                </c:pt>
                <c:pt idx="11">
                  <c:v>0.047161</c:v>
                </c:pt>
                <c:pt idx="12">
                  <c:v>0.049653</c:v>
                </c:pt>
                <c:pt idx="13">
                  <c:v>0.052479</c:v>
                </c:pt>
                <c:pt idx="14">
                  <c:v>0.049693</c:v>
                </c:pt>
                <c:pt idx="15">
                  <c:v>0.049426</c:v>
                </c:pt>
                <c:pt idx="16">
                  <c:v>0.051415</c:v>
                </c:pt>
                <c:pt idx="17">
                  <c:v>0.053806</c:v>
                </c:pt>
                <c:pt idx="18">
                  <c:v>0.050032</c:v>
                </c:pt>
                <c:pt idx="19">
                  <c:v>0.043615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上控制限</c:v>
                </c:pt>
              </c:strCache>
            </c:strRef>
          </c:tx>
          <c:spPr>
            <a:solidFill>
              <a:srgbClr val="CDC7CF"/>
            </a:solidFill>
            <a:ln w="25400" cap="flat">
              <a:solidFill>
                <a:srgbClr val="CDC7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DC7CF"/>
              </a:solidFill>
              <a:ln w="9525" cap="flat">
                <a:solidFill>
                  <a:srgbClr val="CDC7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2017-01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2018-01</c:v>
                  </c:pt>
                  <c:pt idx="13">
                    <c:v>02</c:v>
                  </c:pt>
                  <c:pt idx="14">
                    <c:v>03</c:v>
                  </c:pt>
                  <c:pt idx="15">
                    <c:v>04</c:v>
                  </c:pt>
                  <c:pt idx="16">
                    <c:v>05</c:v>
                  </c:pt>
                  <c:pt idx="17">
                    <c:v>06</c:v>
                  </c:pt>
                  <c:pt idx="18">
                    <c:v>07</c:v>
                  </c:pt>
                  <c:pt idx="19">
                    <c:v>08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0.065328</c:v>
                </c:pt>
                <c:pt idx="1">
                  <c:v>0.058067</c:v>
                </c:pt>
                <c:pt idx="2">
                  <c:v>0.055157</c:v>
                </c:pt>
                <c:pt idx="3">
                  <c:v>0.055778</c:v>
                </c:pt>
                <c:pt idx="4">
                  <c:v>0.053316</c:v>
                </c:pt>
                <c:pt idx="5">
                  <c:v>0.053964</c:v>
                </c:pt>
                <c:pt idx="6">
                  <c:v>0.052874</c:v>
                </c:pt>
                <c:pt idx="7">
                  <c:v>0.052492</c:v>
                </c:pt>
                <c:pt idx="8">
                  <c:v>0.052541</c:v>
                </c:pt>
                <c:pt idx="9">
                  <c:v>0.052188</c:v>
                </c:pt>
                <c:pt idx="10">
                  <c:v>0.05022</c:v>
                </c:pt>
                <c:pt idx="11">
                  <c:v>0.051289</c:v>
                </c:pt>
                <c:pt idx="12">
                  <c:v>0.05033</c:v>
                </c:pt>
                <c:pt idx="13">
                  <c:v>0.050609</c:v>
                </c:pt>
                <c:pt idx="14">
                  <c:v>0.050364</c:v>
                </c:pt>
                <c:pt idx="15">
                  <c:v>0.050473</c:v>
                </c:pt>
                <c:pt idx="16">
                  <c:v>0.0505</c:v>
                </c:pt>
                <c:pt idx="17">
                  <c:v>0.050887</c:v>
                </c:pt>
                <c:pt idx="18">
                  <c:v>0.050849</c:v>
                </c:pt>
                <c:pt idx="19">
                  <c:v>0.050728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下控制限</c:v>
                </c:pt>
              </c:strCache>
            </c:strRef>
          </c:tx>
          <c:spPr>
            <a:solidFill>
              <a:srgbClr val="CDC7CF"/>
            </a:solidFill>
            <a:ln w="25400" cap="flat">
              <a:solidFill>
                <a:srgbClr val="CDC7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DC7CF"/>
              </a:solidFill>
              <a:ln w="9525" cap="flat">
                <a:solidFill>
                  <a:srgbClr val="CDC7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2017-01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2018-01</c:v>
                  </c:pt>
                  <c:pt idx="13">
                    <c:v>02</c:v>
                  </c:pt>
                  <c:pt idx="14">
                    <c:v>03</c:v>
                  </c:pt>
                  <c:pt idx="15">
                    <c:v>04</c:v>
                  </c:pt>
                  <c:pt idx="16">
                    <c:v>05</c:v>
                  </c:pt>
                  <c:pt idx="17">
                    <c:v>06</c:v>
                  </c:pt>
                  <c:pt idx="18">
                    <c:v>07</c:v>
                  </c:pt>
                  <c:pt idx="19">
                    <c:v>08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0.020842</c:v>
                </c:pt>
                <c:pt idx="1">
                  <c:v>0.028102</c:v>
                </c:pt>
                <c:pt idx="2">
                  <c:v>0.031012</c:v>
                </c:pt>
                <c:pt idx="3">
                  <c:v>0.030392</c:v>
                </c:pt>
                <c:pt idx="4">
                  <c:v>0.032854</c:v>
                </c:pt>
                <c:pt idx="5">
                  <c:v>0.032205</c:v>
                </c:pt>
                <c:pt idx="6">
                  <c:v>0.033295</c:v>
                </c:pt>
                <c:pt idx="7">
                  <c:v>0.033678</c:v>
                </c:pt>
                <c:pt idx="8">
                  <c:v>0.033629</c:v>
                </c:pt>
                <c:pt idx="9">
                  <c:v>0.033982</c:v>
                </c:pt>
                <c:pt idx="10">
                  <c:v>0.035949</c:v>
                </c:pt>
                <c:pt idx="11">
                  <c:v>0.034881</c:v>
                </c:pt>
                <c:pt idx="12">
                  <c:v>0.03584</c:v>
                </c:pt>
                <c:pt idx="13">
                  <c:v>0.035561</c:v>
                </c:pt>
                <c:pt idx="14">
                  <c:v>0.035806</c:v>
                </c:pt>
                <c:pt idx="15">
                  <c:v>0.035697</c:v>
                </c:pt>
                <c:pt idx="16">
                  <c:v>0.03567</c:v>
                </c:pt>
                <c:pt idx="17">
                  <c:v>0.035283</c:v>
                </c:pt>
                <c:pt idx="18">
                  <c:v>0.035321</c:v>
                </c:pt>
                <c:pt idx="19">
                  <c:v>0.035441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中心线 4.31%（2017 年品质客诉率）</c:v>
                </c:pt>
              </c:strCache>
            </c:strRef>
          </c:tx>
          <c:spPr>
            <a:solidFill>
              <a:srgbClr val="161418"/>
            </a:solidFill>
            <a:ln w="25400" cap="flat">
              <a:solidFill>
                <a:srgbClr val="16141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61418"/>
              </a:solidFill>
              <a:ln w="9525" cap="flat">
                <a:solidFill>
                  <a:srgbClr val="16141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2017-01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2018-01</c:v>
                  </c:pt>
                  <c:pt idx="13">
                    <c:v>02</c:v>
                  </c:pt>
                  <c:pt idx="14">
                    <c:v>03</c:v>
                  </c:pt>
                  <c:pt idx="15">
                    <c:v>04</c:v>
                  </c:pt>
                  <c:pt idx="16">
                    <c:v>05</c:v>
                  </c:pt>
                  <c:pt idx="17">
                    <c:v>06</c:v>
                  </c:pt>
                  <c:pt idx="18">
                    <c:v>07</c:v>
                  </c:pt>
                  <c:pt idx="19">
                    <c:v>08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0.043085</c:v>
                </c:pt>
                <c:pt idx="1">
                  <c:v>0.043085</c:v>
                </c:pt>
                <c:pt idx="2">
                  <c:v>0.043085</c:v>
                </c:pt>
                <c:pt idx="3">
                  <c:v>0.043085</c:v>
                </c:pt>
                <c:pt idx="4">
                  <c:v>0.043085</c:v>
                </c:pt>
                <c:pt idx="5">
                  <c:v>0.043085</c:v>
                </c:pt>
                <c:pt idx="6">
                  <c:v>0.043085</c:v>
                </c:pt>
                <c:pt idx="7">
                  <c:v>0.043085</c:v>
                </c:pt>
                <c:pt idx="8">
                  <c:v>0.043085</c:v>
                </c:pt>
                <c:pt idx="9">
                  <c:v>0.043085</c:v>
                </c:pt>
                <c:pt idx="10">
                  <c:v>0.043085</c:v>
                </c:pt>
                <c:pt idx="11">
                  <c:v>0.043085</c:v>
                </c:pt>
                <c:pt idx="12">
                  <c:v>0.043085</c:v>
                </c:pt>
                <c:pt idx="13">
                  <c:v>0.043085</c:v>
                </c:pt>
                <c:pt idx="14">
                  <c:v>0.043085</c:v>
                </c:pt>
                <c:pt idx="15">
                  <c:v>0.043085</c:v>
                </c:pt>
                <c:pt idx="16">
                  <c:v>0.043085</c:v>
                </c:pt>
                <c:pt idx="17">
                  <c:v>0.043085</c:v>
                </c:pt>
                <c:pt idx="18">
                  <c:v>0.043085</c:v>
                </c:pt>
                <c:pt idx="19">
                  <c:v>0.043085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DC7C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8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5"/>
          <c:min val="0.02"/>
        </c:scaling>
        <c:delete val="0"/>
        <c:axPos val="l"/>
        <c:majorGridlines>
          <c:spPr>
            <a:ln w="6350" cap="flat">
              <a:solidFill>
                <a:srgbClr val="E9E6EA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这个项目用 Olist 巴西电商平台公开的真实订单数据，搭建了以品质客诉率为核心指标的品控分析，包括指标体系、经营看板、专题分析、SQL 取数四个模块。分析使用下单月 2017-01 至 2018-08 的 96,203 个签收订单。下面按结论、指标、问题、举措、可信度五部分讲。
（交付前把琥珀色的姓名、手机、邮箱换成自己的。）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差评率在下降，品质客诉率在上升，而且是持续偏移。差评率跟着物流走：2018 年 3 月准时签收率 81.0%，差评率 22.8%；8 月分别为 93.8% 和 10.9%。品质客诉率 2017 年 4.31%，2018 年 1-8 月 5.00%；两比例 z 检验 z = 5.05，p &lt; 0.0001。控制图上从 2017 年 10 月起连续 11 个月高于中心线，其中 3 个月越限。差评品质原因占比从 2017 年一季度的 21.9% 升到 2018 年三季度的 35.2%。所以考核品控用品质客诉率，差评率只作为体验指标观察。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指标体系分四层：核心指标品质客诉率，5 个结果指标，体验指标，以及商品准入、商家管理、仓配履约三个环节的过程指标。2018 年 1-8 月的 5 个结果指标：少件漏发客诉率 1.90%、货不对板客诉率 1.60%、质量缺陷客诉率 1.59%、包装破损客诉率 0.12%、假货客诉率 22.0 单/万单；一个订单可同时命中多个标签，所以相加不等于品质客诉率。三条口径规则：按下单月归属，只取最后一次评价，汇总表只存订单数、最后再算比率；看板、报告、SQL 都从同一张订单宽表计算。看板第一屏回答"好不好"：核心指标、体验指标和预警清单；第二屏回答"在哪里"：结果指标、一级类目和订单结构。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上升来自同类订单自身变差，集中在多件订单、高风险商家和假货三处。因素分解：2017 年到 2018 年 1-8 月，品质客诉率变化 +0.69pp，其中组内效应 +0.74pp，结构效应 −0.01pp。多件订单占签收订单 10.0%，贡献 33.6% 的品质客诉订单；品质客诉率 15.79%，是单件订单 3.46% 的 4.6 倍。高风险商家 10 家，占参评商家 3.3%，商家签收订单占 3.6%，商家品质客诉订单占 12.5%；回测中，下一个 6 个月的品质客诉率仍是商家基准品质客诉率的 2.2 倍。假货集中在电脑配件和钟表礼品，假货客诉率分别为 66.2 单/万单 和 53.0 单/万单，全部签收订单为 17.7 单/万单；如果穿戴类占比从 9.2% 调为 75%，2018 年 1-8 月的假货客诉率会从 22.0 单/万单 升到 45.1 单/万单。三处分别对应仓配出库、商家管理、商品准入三个环节，下面三项举措一一对应。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三项举措在中性情景下，可以把品质客诉率从 5.00% 降到 3.82%。A 多件订单出库复核，B 高风险商家和需关注商家整改，C 一级类目 3C数码、钟表与潮流好物的正品与商品描述专项。悲观情景 4.32%，乐观情景 3.34%；对举措 A 的降幅最敏感，影响 0.54pp。质检按风险分配：出库只复核多件订单，出库类问题订单覆盖率 75.4%；入仓抽检 10% 时，按商家 × 品类风险分抽检的入仓类问题订单覆盖率 15.7%，随机抽检 10.3%，是 1.5 倍。先在部分仓库试点举措 A，用试点组相对对照组的变化评估效果。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所有数字可以复现、可以对账，已知局限已经量化。每次运行执行 18 项数据校验，全部通过。200 条标注样本由大模型逐条阅读原文判定，附中文释义可人工抽查：标签精确率 97.4%、标签召回率 74.5%，规则偏保守、绝对值偏低；2017 年、2018 年标签召回率为 78.0% 和 72.1%，上升趋势不会被高估。19 道 SQL 取数题全部实际运行，4 道与看板核对一致。接入内部数据后，先对齐口径，再接入入仓质检和退货数据，然后从多件订单少件漏发切入做一轮"发现、举措、复盘"。谢谢。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电商品控数据分析项目 · 精简版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差评率在下降，品质客诉率在上升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8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指标体系 · 经营看板 · 专题分析 · SQL 取数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　品质客诉率</a:t>
            </a:r>
            <a:pPr indent="0" marL="0">
              <a:buNone/>
            </a:pPr>
            <a:r>
              <a:rPr lang="en-US" sz="1400" dirty="0">
                <a:solidFill>
                  <a:srgbClr val="CFC8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：签收订单中，用户因商品本身的问题给出 1-3 星、并在评价文字里描述了该问题的订单所占的比例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96,203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54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8D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个签收订单（下单月 2017-01 至 2018-08）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9525">
            <a:solidFill>
              <a:srgbClr val="3A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440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【姓名】　｜　【手机】　｜　【邮箱】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8D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Brazilian E-Commerce Public Dataset（巴西电商平台公开的脱敏真实订单）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 · 结论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差评率在下降，品质客诉率在上升，而且是持续偏移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441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关键术语　</a:t>
            </a:r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持续偏移</a:t>
            </a:r>
            <a:pPr indent="0" marL="0">
              <a:buNone/>
            </a:pPr>
            <a:r>
              <a:rPr lang="en-US" sz="12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：控制图上连续 9 个及以上月份落在中心线同一侧，说明变化不是随机波动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925312"/>
            <a:ext cx="11094415" cy="384048"/>
          </a:xfrm>
          <a:prstGeom prst="rect">
            <a:avLst/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925312"/>
            <a:ext cx="54864" cy="384048"/>
          </a:xfrm>
          <a:prstGeom prst="rect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925312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　</a:t>
            </a:r>
            <a:pPr indent="0" marL="0">
              <a:buNone/>
            </a:pPr>
            <a:r>
              <a:rPr lang="en-US" sz="120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所以考核品控用品质客诉率，差评率只作为体验指标观察。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巴西电商公开数据（脱敏真实订单），下单月 2017-01 至 2018-08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828800"/>
          <a:ext cx="69494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3766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2017-10 至 2018-08 连续 11 个月高于中心线；3 个月越限（2018-02、2018-05、2018-06）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1828800"/>
            <a:ext cx="36420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22.8% → 10.9%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2395728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差评率，下单月 2018-03 → 2018-08；同期准时签收率 81.0% → 93.8%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108960"/>
            <a:ext cx="36420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4.31% → 5.00%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3675888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品质客诉率，2017 年 → 2018 年 1-8 月（z = 5.05，p &lt; 0.0001）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4389120"/>
            <a:ext cx="36420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21.9% → 35.2%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4956048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差评品质原因占比，下单季度 2017Q1 → 2018Q3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 · 指标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指标分四层：核心指标、结果指标、体验指标、过程指标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441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关键术语　</a:t>
            </a:r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pPr indent="0" marL="0">
              <a:buNone/>
            </a:pPr>
            <a:r>
              <a:rPr lang="en-US" sz="12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：衡量品控结果、用于考核的唯一指标，本项目为品质客诉率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925312"/>
            <a:ext cx="11094415" cy="384048"/>
          </a:xfrm>
          <a:prstGeom prst="rect">
            <a:avLst/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925312"/>
            <a:ext cx="54864" cy="384048"/>
          </a:xfrm>
          <a:prstGeom prst="rect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925312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　</a:t>
            </a:r>
            <a:pPr indent="0" marL="0">
              <a:buNone/>
            </a:pPr>
            <a:r>
              <a:rPr lang="en-US" sz="120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看板第一屏回答"好不好"：核心指标、体验指标和预警清单；第二屏回答"在哪里"：结果指标、一级类目和订单结构。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巴西电商公开数据（脱敏真实订单），下单月 2017-01 至 2018-08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928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　品质客诉率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2677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品质客诉订单数 ÷ 签收订单数；2018 年 1-8 月 5.00%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1635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结果指标：按 5 个品质问题标签拆开（2018 年 1-8 月）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978408" cy="822960"/>
          </a:xfrm>
          <a:prstGeom prst="roundRect">
            <a:avLst>
              <a:gd name="adj" fmla="val 8889"/>
            </a:avLst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1729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少件漏发客诉率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474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18488" y="3127248"/>
            <a:ext cx="978408" cy="822960"/>
          </a:xfrm>
          <a:prstGeom prst="roundRect">
            <a:avLst>
              <a:gd name="adj" fmla="val 8889"/>
            </a:avLst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91640" y="31729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货不对板客诉率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474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88336" y="3127248"/>
            <a:ext cx="978408" cy="822960"/>
          </a:xfrm>
          <a:prstGeom prst="roundRect">
            <a:avLst>
              <a:gd name="adj" fmla="val 8889"/>
            </a:avLst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61488" y="31729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质量缺陷客诉率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761488" y="3474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1.59%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58184" y="3127248"/>
            <a:ext cx="978408" cy="822960"/>
          </a:xfrm>
          <a:prstGeom prst="roundRect">
            <a:avLst>
              <a:gd name="adj" fmla="val 8889"/>
            </a:avLst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31336" y="31729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包装破损客诉率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831336" y="3474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28032" y="3127248"/>
            <a:ext cx="978408" cy="822960"/>
          </a:xfrm>
          <a:prstGeom prst="roundRect">
            <a:avLst>
              <a:gd name="adj" fmla="val 8889"/>
            </a:avLst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01184" y="31729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假货客诉率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901184" y="3474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22.0 单/万单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0690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体验指标：差评率等，只观察，不用于考核品控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38912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过程指标：商品准入、商家管理、仓配履约三个环节（另有需要内部数据的待接入指标）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98348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三条口径规则：按下单月归属；只取最后一次评价；汇总表只存订单数，最后再算比率</a:t>
            </a:r>
            <a:endParaRPr lang="en-US" sz="1150" dirty="0"/>
          </a:p>
        </p:txBody>
      </p:sp>
      <p:pic>
        <p:nvPicPr>
          <p:cNvPr id="34" name="Image 0" descr="/home/user/intern-project/docs/images/dashboard_overview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828800"/>
            <a:ext cx="5470855" cy="3298604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6172200" y="1828800"/>
            <a:ext cx="5470855" cy="3298604"/>
          </a:xfrm>
          <a:prstGeom prst="rect">
            <a:avLst/>
          </a:prstGeom>
          <a:ln w="9525">
            <a:solidFill>
              <a:srgbClr val="E9E6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172200" y="5237132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看板第一屏：核心指标、体验指标、控制图和预警清单；第二屏：结果指标、一级类目和订单结构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 · 问题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上升来自同类订单自身变差，集中在多件订单、高风险商家和假货三处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441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关键术语　</a:t>
            </a:r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组内效应</a:t>
            </a:r>
            <a:pPr indent="0" marL="0">
              <a:buNone/>
            </a:pPr>
            <a:r>
              <a:rPr lang="en-US" sz="12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：同一类目自身品质客诉率变化带来的整体变化；与之相对，结构效应是各类目订单占比变化带来的整体变化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925312"/>
            <a:ext cx="11094415" cy="384048"/>
          </a:xfrm>
          <a:prstGeom prst="rect">
            <a:avLst/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925312"/>
            <a:ext cx="54864" cy="384048"/>
          </a:xfrm>
          <a:prstGeom prst="rect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925312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　</a:t>
            </a:r>
            <a:pPr indent="0" marL="0">
              <a:buNone/>
            </a:pPr>
            <a:r>
              <a:rPr lang="en-US" sz="120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三处分别对应仓配出库、商家管理、商品准入三个环节，下面三项举措一一对应。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巴西电商公开数据（脱敏真实订单），下单月 2017-01 至 2018-08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8288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因素分解（2017 年 → 2018 年 1-8 月）：品质客诉率 +0.69pp，其中组内效应 +0.74pp，结构效应 −0.01pp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515258" cy="3474720"/>
          </a:xfrm>
          <a:prstGeom prst="roundRect">
            <a:avLst>
              <a:gd name="adj" fmla="val 2105"/>
            </a:avLst>
          </a:prstGeom>
          <a:solidFill>
            <a:srgbClr val="F6F4F6"/>
          </a:solidFill>
          <a:ln w="12700">
            <a:solidFill>
              <a:srgbClr val="F6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4688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多件订单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52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10.0% → 33.6%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1188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多件订单占签收订单 10.0%，贡献 33.6% 的品质客诉订单；品质客诉率 15.79%，是单件订单 3.46% 的 4.6 倍（下单月 2017-01 至 2018-08）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230368"/>
            <a:ext cx="2966618" cy="0"/>
          </a:xfrm>
          <a:prstGeom prst="line">
            <a:avLst/>
          </a:prstGeom>
          <a:noFill/>
          <a:ln w="9525">
            <a:solidFill>
              <a:srgbClr val="E9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303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对应环节：仓配出库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38218" y="2286000"/>
            <a:ext cx="3515258" cy="3474720"/>
          </a:xfrm>
          <a:prstGeom prst="roundRect">
            <a:avLst>
              <a:gd name="adj" fmla="val 2105"/>
            </a:avLst>
          </a:prstGeom>
          <a:solidFill>
            <a:srgbClr val="F6F4F6"/>
          </a:solidFill>
          <a:ln w="12700">
            <a:solidFill>
              <a:srgbClr val="F6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2538" y="24688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高风险商家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12538" y="2852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家 → 12.5%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361188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占参评商家 3.3%，商家签收订单占 3.6%，商家品质客诉订单占 12.5%；回测中下一个 6 个月仍是商家基准品质客诉率的 2.2 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2538" y="5230368"/>
            <a:ext cx="2966618" cy="0"/>
          </a:xfrm>
          <a:prstGeom prst="line">
            <a:avLst/>
          </a:prstGeom>
          <a:noFill/>
          <a:ln w="9525">
            <a:solidFill>
              <a:srgbClr val="E9E6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2538" y="5303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对应环节：商家管理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7797" y="2286000"/>
            <a:ext cx="3515258" cy="3474720"/>
          </a:xfrm>
          <a:prstGeom prst="roundRect">
            <a:avLst>
              <a:gd name="adj" fmla="val 2105"/>
            </a:avLst>
          </a:prstGeom>
          <a:solidFill>
            <a:srgbClr val="F6F4F6"/>
          </a:solidFill>
          <a:ln w="12700">
            <a:solidFill>
              <a:srgbClr val="F6F4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02117" y="24688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假货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02117" y="2852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66.2 单/万单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402117" y="361188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假货客诉率：电脑配件 66.2 单/万单、钟表礼品 53.0 单/万单，全部签收订单 17.7 单/万单（下单月 2017-01 至 2018-08）；穿戴类占比从 9.2% 调为 75% 时，2018 年 1-8 月从 22.0 单/万单 升到 45.1 单/万单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02117" y="5230368"/>
            <a:ext cx="2966618" cy="0"/>
          </a:xfrm>
          <a:prstGeom prst="line">
            <a:avLst/>
          </a:prstGeom>
          <a:noFill/>
          <a:ln w="9525">
            <a:solidFill>
              <a:srgbClr val="E9E6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02117" y="5303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对应环节：商品准入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78815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穿戴类占比 75% 取自唯品会 2024 年财报报道的穿戴类 GMV 占比，用 GMV 占比近似订单占比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 · 举措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三项举措在中性情景下，可以把品质客诉率从 5.00% 降到 3.82%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441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关键术语　</a:t>
            </a:r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治理测算</a:t>
            </a:r>
            <a:pPr indent="0" marL="0">
              <a:buNone/>
            </a:pPr>
            <a:r>
              <a:rPr lang="en-US" sz="12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：估算举措实施后的品质客诉率；一个品质客诉订单被多项举措覆盖时，按 1 − Π(1 − 各举措降幅) 叠加，避免重复计算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925312"/>
            <a:ext cx="11094415" cy="384048"/>
          </a:xfrm>
          <a:prstGeom prst="rect">
            <a:avLst/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925312"/>
            <a:ext cx="54864" cy="384048"/>
          </a:xfrm>
          <a:prstGeom prst="rect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925312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　</a:t>
            </a:r>
            <a:pPr indent="0" marL="0">
              <a:buNone/>
            </a:pPr>
            <a:r>
              <a:rPr lang="en-US" sz="120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先在部分仓库试点举措 A，用试点组相对对照组的变化评估效果。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巴西电商公开数据（脱敏真实订单），下单月 2017-01 至 2018-08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8288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治理后的品质客诉率：基期与三组情景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758298"/>
            <a:ext cx="960120" cy="2362342"/>
          </a:xfrm>
          <a:prstGeom prst="rect">
            <a:avLst/>
          </a:prstGeom>
          <a:solidFill>
            <a:srgbClr val="161418"/>
          </a:solidFill>
          <a:ln w="12700">
            <a:solidFill>
              <a:srgbClr val="1614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4973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5.00%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193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0" y="3078991"/>
            <a:ext cx="960120" cy="2041649"/>
          </a:xfrm>
          <a:prstGeom prst="rect">
            <a:avLst/>
          </a:prstGeom>
          <a:solidFill>
            <a:srgbClr val="F08CB8"/>
          </a:solidFill>
          <a:ln w="12700">
            <a:solidFill>
              <a:srgbClr val="F08C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94560" y="3170431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4.32%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193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悲观情景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0" y="3317714"/>
            <a:ext cx="960120" cy="1802926"/>
          </a:xfrm>
          <a:prstGeom prst="rect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0" y="3409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3.82%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5193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中性情景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20640" y="3542454"/>
            <a:ext cx="960120" cy="1578186"/>
          </a:xfrm>
          <a:prstGeom prst="rect">
            <a:avLst/>
          </a:prstGeom>
          <a:solidFill>
            <a:srgbClr val="8C0044"/>
          </a:solidFill>
          <a:ln w="12700">
            <a:solidFill>
              <a:srgbClr val="8C00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363389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3.34%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5193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乐观情景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5532120" cy="0"/>
          </a:xfrm>
          <a:prstGeom prst="line">
            <a:avLst/>
          </a:prstGeom>
          <a:noFill/>
          <a:ln w="9525">
            <a:solidFill>
              <a:srgbClr val="CDC7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486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基期：2018 年 1-8 月；降幅假设 悲观 A 30%、B 15%、C 15%，中性 50%、30%、30%，乐观 70%、45%、45%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1856232"/>
            <a:ext cx="365760" cy="365760"/>
          </a:xfrm>
          <a:prstGeom prst="ellipse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1874520"/>
            <a:ext cx="4236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多件订单出库复核 + 分包裹提醒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03720" y="2386584"/>
            <a:ext cx="365760" cy="365760"/>
          </a:xfrm>
          <a:prstGeom prst="ellipse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2404872"/>
            <a:ext cx="4236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高风险商家和需关注商家整改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03720" y="2916936"/>
            <a:ext cx="365760" cy="365760"/>
          </a:xfrm>
          <a:prstGeom prst="ellipse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0372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2935224"/>
            <a:ext cx="4236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3C数码、钟表与潮流好物正品与商品描述专项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903720" y="3520440"/>
            <a:ext cx="4739335" cy="2240280"/>
          </a:xfrm>
          <a:prstGeom prst="roundRect">
            <a:avLst>
              <a:gd name="adj" fmla="val 3265"/>
            </a:avLst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0" y="3611880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质检按风险分配（用 2017-09 至 2018-02 计算风险分，在下单月 2018-03 至 2018-08 上检验）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0690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75.4%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63600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出库复核只看多件订单时的出库类问题订单覆盖率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4069080"/>
            <a:ext cx="19961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15.7% vs 10.3%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0" y="4636008"/>
            <a:ext cx="1996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入仓抽检 10% 时的入仓类问题订单覆盖率：风险分 vs 随机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 · 可信度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所有数字可以复现、可以对账，已知局限已经量化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441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关键术语　</a:t>
            </a:r>
            <a:pPr indent="0" marL="0">
              <a:buNone/>
            </a:pPr>
            <a:r>
              <a:rPr lang="en-US" sz="125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数据校验</a:t>
            </a:r>
            <a:pPr indent="0" marL="0">
              <a:buNone/>
            </a:pPr>
            <a:r>
              <a:rPr lang="en-US" sz="125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：每次运行自动执行的检查（跨层对账、主键唯一、分子不大于分母等），任一项不通过就不输出结果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925312"/>
            <a:ext cx="11094415" cy="384048"/>
          </a:xfrm>
          <a:prstGeom prst="rect">
            <a:avLst/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925312"/>
            <a:ext cx="54864" cy="384048"/>
          </a:xfrm>
          <a:prstGeom prst="rect">
            <a:avLst/>
          </a:prstGeom>
          <a:solidFill>
            <a:srgbClr val="E1006C"/>
          </a:solidFill>
          <a:ln w="12700">
            <a:solidFill>
              <a:srgbClr val="E100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925312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　</a:t>
            </a:r>
            <a:pPr indent="0" marL="0">
              <a:buNone/>
            </a:pPr>
            <a:r>
              <a:rPr lang="en-US" sz="120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接入内部数据后，先对齐口径，再接入入仓质检和退货数据，然后从多件订单少件漏发切入做一轮"发现、举措、复盘"。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巴西电商公开数据（脱敏真实订单），下单月 2017-01 至 2018-08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515258" cy="3794760"/>
          </a:xfrm>
          <a:prstGeom prst="roundRect">
            <a:avLst>
              <a:gd name="adj" fmla="val 2081"/>
            </a:avLst>
          </a:prstGeom>
          <a:solidFill>
            <a:srgbClr val="FCE6F0"/>
          </a:solidFill>
          <a:ln w="12700">
            <a:solidFill>
              <a:srgbClr val="FCE6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项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926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数据校验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8328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每次运行自动执行（跨层对账、主键唯一、分子不大于分母等），最近一次全部通过；任一项不通过就不输出结果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8218" y="1920240"/>
            <a:ext cx="3515258" cy="3794760"/>
          </a:xfrm>
          <a:prstGeom prst="roundRect">
            <a:avLst>
              <a:gd name="adj" fmla="val 2081"/>
            </a:avLst>
          </a:prstGeom>
          <a:solidFill>
            <a:srgbClr val="F6F4F6"/>
          </a:solidFill>
          <a:ln w="12700">
            <a:solidFill>
              <a:srgbClr val="F6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2538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97.4% / 74.5%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612538" y="2926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标签精确率 / 标签召回率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12538" y="338328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标注样本 200 条（从 12,780 条中随机抽取）；2017 年、2018 年标签召回率 78.0%、72.1%，上升趋势不会被高估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7797" y="1920240"/>
            <a:ext cx="3515258" cy="3794760"/>
          </a:xfrm>
          <a:prstGeom prst="roundRect">
            <a:avLst>
              <a:gd name="adj" fmla="val 2081"/>
            </a:avLst>
          </a:prstGeom>
          <a:solidFill>
            <a:srgbClr val="F6F4F6"/>
          </a:solidFill>
          <a:ln w="12700">
            <a:solidFill>
              <a:srgbClr val="F6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02117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10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926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取数题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338328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全部实际运行；4 道与看板数字逐一核对一致；5 道另有 Hive / Spark SQL 版本，与 MySQL 结果逐行核对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差评率在下降，品质客诉率在上升（精简版）</dc:title>
  <dc:subject>PptxGenJS Presentation</dc:subject>
  <dc:creator>品控数据分析项目</dc:creator>
  <cp:lastModifiedBy>品控数据分析项目</cp:lastModifiedBy>
  <cp:revision>1</cp:revision>
  <dcterms:created xsi:type="dcterms:W3CDTF">2026-09-27T03:47:13Z</dcterms:created>
  <dcterms:modified xsi:type="dcterms:W3CDTF">2026-09-27T03:47:13Z</dcterms:modified>
</cp:coreProperties>
</file>